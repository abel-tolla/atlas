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Group Atlas, and this is our calendar project. We will cover the problem we noticed, what Atlas is and what the MVP includes, the smart features, our system sketch, and finally the value to users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people keep their schedule in several places at once. A student can have assignments in Canvas, a part-time job on Google Calendar, club meetings in Microsoft Teams, and personal appointments on Apple Calendar. Professionals do the same with a corporate Outlook calendar next to a personal Google one. Switching between apps leads to missed deadlines and accidental double-bookings, and it means copying events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is a web-based calendar that pulls events from Google Calendar, Microsoft Teams/Outlook, Canvas, and Apple Calendar into one view. Each event is color-coded by its source, so a user can tell at a glance whether something came from class, work, or personal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MVP we are keeping the scope small. First, the unified calendar itself. Second, connections to at least two of the four calendar sources. Third, a basic AI assistant that can read schedule information and perform simple task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understands the user's schedule. Students and professionals can ask practical questions, like what to work on right now or whether an assignment can be finished before Friday. It can find open time slots, help create or reschedule events, and split a large assignment into smaller study or work sessions. The user approves the plan with a single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smart feature is scheduling. Our goal is for Atlas to detect overlapping events automatically and use priority and importance to decide what moves. For example, a medical appointment should take precedence over a baseball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system sketch. Everything runs in one Next.js app on Vercel, with the React frontend and the backend API together. The backend syncs with the calendar APIs, reads and writes the PostgreSQL database, talks to a self-hosted Ollama server for the AI assistant, and sends alerts through email or optional 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box. The frontend is what users see: the calendar, the task pages, and the assistant sidebar. The backend uses Next.js API routes and server actions, with Auth.js handling OAuth 2.0 sign-in. Calendar sync uses Microsoft Graph, the Google Calendar API, the Canvas API, and CalDAV for Apple Calendar. Data lives in PostgreSQL on Neon or Supabase. For the assistant, the backend sends the prompt plus only the relevant part of the user's schedule to an Ollama server running Llama or Qwen. Notifications go out through Resend email, with SMS as an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helps people who spend time piecing their week together from several apps. It gives them one view and turns the calendar into a planning tool. Notifications and summaries keep them informed. Together these save time, reduce stress, and help people decide how to spend their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is the starting point. Later phases bring in all four calendar sources and add smarter task breakdowns, real-time syncing, notifications, and automated daily or weekly summaries. Thank you, 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A"/>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78001"/>
            <a:ext cx="10566400" cy="4267199"/>
          </a:xfrm>
          <a:prstGeom prst="rect">
            <a:avLst/>
          </a:prstGeom>
          <a:noFill/>
          <a:ln/>
        </p:spPr>
        <p:txBody>
          <a:bodyPr wrap="square" lIns="0" tIns="0" rIns="0" bIns="0" rtlCol="0" anchor="t"/>
          <a:lstStyle>
            <a:lvl1pPr algn="l" indent="0" marL="0">
              <a:lnSpc>
                <a:spcPct val="140000"/>
              </a:lnSpc>
              <a:buNone/>
              <a:defRPr lang="en-US" sz="1600" dirty="0">
                <a:solidFill>
                  <a:srgbClr val="16233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A"/>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78001"/>
            <a:ext cx="10566400" cy="4267199"/>
          </a:xfrm>
          <a:prstGeom prst="rect">
            <a:avLst/>
          </a:prstGeom>
          <a:noFill/>
          <a:ln/>
        </p:spPr>
        <p:txBody>
          <a:bodyPr wrap="square" lIns="0" tIns="0" rIns="0" bIns="0" rtlCol="0" anchor="t"/>
          <a:lstStyle>
            <a:lvl1pPr algn="l" indent="0" marL="0">
              <a:lnSpc>
                <a:spcPct val="140000"/>
              </a:lnSpc>
              <a:buNone/>
              <a:defRPr lang="en-US" sz="1600" dirty="0">
                <a:solidFill>
                  <a:srgbClr val="16233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sp>
        <p:nvSpPr>
          <p:cNvPr id="2" name="Text 0"/>
          <p:cNvSpPr/>
          <p:nvPr/>
        </p:nvSpPr>
        <p:spPr>
          <a:xfrm>
            <a:off x="7823200" y="1270000"/>
            <a:ext cx="3556000" cy="711200"/>
          </a:xfrm>
          <a:prstGeom prst="roundRect">
            <a:avLst>
              <a:gd name="adj" fmla="val 17857"/>
            </a:avLst>
          </a:prstGeom>
          <a:solidFill>
            <a:srgbClr val="2563EB"/>
          </a:solidFill>
          <a:ln/>
        </p:spPr>
        <p:txBody>
          <a:bodyPr wrap="square" lIns="191403" tIns="0" rIns="191403" bIns="0"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Google Calendar</a:t>
            </a:r>
            <a:endParaRPr lang="en-US" sz="1600" dirty="0"/>
          </a:p>
        </p:txBody>
      </p:sp>
      <p:sp>
        <p:nvSpPr>
          <p:cNvPr id="3" name="Text 1"/>
          <p:cNvSpPr/>
          <p:nvPr/>
        </p:nvSpPr>
        <p:spPr>
          <a:xfrm>
            <a:off x="7442200" y="2159000"/>
            <a:ext cx="3556000" cy="711200"/>
          </a:xfrm>
          <a:prstGeom prst="roundRect">
            <a:avLst>
              <a:gd name="adj" fmla="val 17857"/>
            </a:avLst>
          </a:prstGeom>
          <a:solidFill>
            <a:srgbClr val="6D43C4"/>
          </a:solidFill>
          <a:ln/>
        </p:spPr>
        <p:txBody>
          <a:bodyPr wrap="square" lIns="191403" tIns="0" rIns="191403" bIns="0"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Microsoft Teams/Outlook</a:t>
            </a:r>
            <a:endParaRPr lang="en-US" sz="1600" dirty="0"/>
          </a:p>
        </p:txBody>
      </p:sp>
      <p:sp>
        <p:nvSpPr>
          <p:cNvPr id="4" name="Text 2"/>
          <p:cNvSpPr/>
          <p:nvPr/>
        </p:nvSpPr>
        <p:spPr>
          <a:xfrm>
            <a:off x="7823200" y="3048000"/>
            <a:ext cx="3556000" cy="711200"/>
          </a:xfrm>
          <a:prstGeom prst="roundRect">
            <a:avLst>
              <a:gd name="adj" fmla="val 17857"/>
            </a:avLst>
          </a:prstGeom>
          <a:solidFill>
            <a:srgbClr val="C42F42"/>
          </a:solidFill>
          <a:ln/>
        </p:spPr>
        <p:txBody>
          <a:bodyPr wrap="square" lIns="191403" tIns="0" rIns="191403" bIns="0"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Canvas</a:t>
            </a:r>
            <a:endParaRPr lang="en-US" sz="1600" dirty="0"/>
          </a:p>
        </p:txBody>
      </p:sp>
      <p:sp>
        <p:nvSpPr>
          <p:cNvPr id="5" name="Text 3"/>
          <p:cNvSpPr/>
          <p:nvPr/>
        </p:nvSpPr>
        <p:spPr>
          <a:xfrm>
            <a:off x="7442200" y="3937000"/>
            <a:ext cx="3556000" cy="711200"/>
          </a:xfrm>
          <a:prstGeom prst="roundRect">
            <a:avLst>
              <a:gd name="adj" fmla="val 17857"/>
            </a:avLst>
          </a:prstGeom>
          <a:solidFill>
            <a:srgbClr val="1F7A52"/>
          </a:solidFill>
          <a:ln/>
        </p:spPr>
        <p:txBody>
          <a:bodyPr wrap="square" lIns="191403" tIns="0" rIns="191403" bIns="0"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Apple Calendar</a:t>
            </a:r>
            <a:endParaRPr lang="en-US" sz="1600" dirty="0"/>
          </a:p>
        </p:txBody>
      </p:sp>
      <p:sp>
        <p:nvSpPr>
          <p:cNvPr id="6" name="Text 4"/>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4A261"/>
                </a:solidFill>
                <a:latin typeface="DM Sans" pitchFamily="34" charset="0"/>
                <a:ea typeface="DM Sans" pitchFamily="34" charset="-122"/>
                <a:cs typeface="DM Sans" pitchFamily="34" charset="-120"/>
              </a:rPr>
              <a:t>GROUP ATLAS</a:t>
            </a:r>
            <a:endParaRPr lang="en-US" sz="1400" dirty="0"/>
          </a:p>
        </p:txBody>
      </p:sp>
      <p:sp>
        <p:nvSpPr>
          <p:cNvPr id="7" name="Text 5"/>
          <p:cNvSpPr/>
          <p:nvPr>
            <p:ph type="title"/>
          </p:nvPr>
        </p:nvSpPr>
        <p:spPr>
          <a:xfrm>
            <a:off x="812800" y="214630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i="0" dirty="0">
                <a:solidFill>
                  <a:srgbClr val="F6F4EE"/>
                </a:solidFill>
                <a:latin typeface="DM Sans" pitchFamily="34" charset="0"/>
                <a:ea typeface="DM Sans" pitchFamily="34" charset="-122"/>
                <a:cs typeface="DM Sans" pitchFamily="34" charset="-120"/>
              </a:rPr>
              <a:t>Atlas</a:t>
            </a:r>
            <a:endParaRPr lang="en-US" sz="10000" dirty="0"/>
          </a:p>
        </p:txBody>
      </p:sp>
      <p:sp>
        <p:nvSpPr>
          <p:cNvPr id="8" name="Text 6"/>
          <p:cNvSpPr/>
          <p:nvPr/>
        </p:nvSpPr>
        <p:spPr>
          <a:xfrm>
            <a:off x="812800" y="3568700"/>
            <a:ext cx="5886450" cy="1168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C5D0E0"/>
                </a:solidFill>
                <a:latin typeface="DM Sans" pitchFamily="34" charset="0"/>
                <a:ea typeface="DM Sans" pitchFamily="34" charset="-122"/>
                <a:cs typeface="DM Sans" pitchFamily="34" charset="-120"/>
              </a:rPr>
              <a:t>One calendar for your whole schedule, with an AI assistant that helps you plan it.</a:t>
            </a:r>
            <a:endParaRPr lang="en-US" sz="2400" dirty="0"/>
          </a:p>
        </p:txBody>
      </p:sp>
      <p:sp>
        <p:nvSpPr>
          <p:cNvPr id="9" name="Text 7"/>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D0E0"/>
                </a:solidFill>
                <a:latin typeface="DM Sans" pitchFamily="34" charset="0"/>
                <a:ea typeface="DM Sans" pitchFamily="34" charset="-122"/>
                <a:cs typeface="DM Sans" pitchFamily="34" charset="-120"/>
              </a:rPr>
              <a:t>Athar Ahmad · Abel Tolla · David Worku · Nader Abouelregal · Kero Shafik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0A"/>
                </a:solidFill>
                <a:latin typeface="DM Sans" pitchFamily="34" charset="0"/>
                <a:ea typeface="DM Sans" pitchFamily="34" charset="-122"/>
                <a:cs typeface="DM Sans" pitchFamily="34" charset="-120"/>
              </a:rPr>
              <a:t>THE PROBLEM</a:t>
            </a:r>
            <a:endParaRPr lang="en-US" sz="1200" dirty="0"/>
          </a:p>
        </p:txBody>
      </p:sp>
      <p:sp>
        <p:nvSpPr>
          <p:cNvPr id="3" name="Text 1"/>
          <p:cNvSpPr/>
          <p:nvPr>
            <p:ph type="title"/>
          </p:nvPr>
        </p:nvSpPr>
        <p:spPr>
          <a:xfrm>
            <a:off x="812800" y="10261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A"/>
                </a:solidFill>
                <a:latin typeface="DM Sans" pitchFamily="34" charset="0"/>
                <a:ea typeface="DM Sans" pitchFamily="34" charset="-122"/>
                <a:cs typeface="DM Sans" pitchFamily="34" charset="-120"/>
              </a:rPr>
              <a:t>Schedules scattered across apps</a:t>
            </a:r>
            <a:endParaRPr lang="en-US" sz="3200" dirty="0"/>
          </a:p>
        </p:txBody>
      </p:sp>
      <p:sp>
        <p:nvSpPr>
          <p:cNvPr id="4" name="Shape 2"/>
          <p:cNvSpPr/>
          <p:nvPr/>
        </p:nvSpPr>
        <p:spPr>
          <a:xfrm>
            <a:off x="815975" y="1781175"/>
            <a:ext cx="2482850" cy="1687830"/>
          </a:xfrm>
          <a:prstGeom prst="roundRect">
            <a:avLst>
              <a:gd name="adj" fmla="val 5831"/>
            </a:avLst>
          </a:prstGeom>
          <a:solidFill>
            <a:srgbClr val="FBFAF6"/>
          </a:solidFill>
          <a:ln w="6350">
            <a:solidFill>
              <a:srgbClr val="E2DED3"/>
            </a:solidFill>
            <a:prstDash val="solid"/>
          </a:ln>
        </p:spPr>
      </p:sp>
      <p:sp>
        <p:nvSpPr>
          <p:cNvPr id="5" name="Shape 3"/>
          <p:cNvSpPr/>
          <p:nvPr/>
        </p:nvSpPr>
        <p:spPr>
          <a:xfrm>
            <a:off x="1022350" y="1987550"/>
            <a:ext cx="406400" cy="76200"/>
          </a:xfrm>
          <a:prstGeom prst="roundRect">
            <a:avLst>
              <a:gd name="adj" fmla="val 50000"/>
            </a:avLst>
          </a:prstGeom>
          <a:solidFill>
            <a:srgbClr val="C42F42"/>
          </a:solidFill>
          <a:ln/>
        </p:spPr>
      </p:sp>
      <p:sp>
        <p:nvSpPr>
          <p:cNvPr id="6" name="Text 4"/>
          <p:cNvSpPr/>
          <p:nvPr/>
        </p:nvSpPr>
        <p:spPr>
          <a:xfrm>
            <a:off x="1022350" y="2139950"/>
            <a:ext cx="21322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Canvas</a:t>
            </a:r>
            <a:endParaRPr lang="en-US" sz="1800" dirty="0"/>
          </a:p>
        </p:txBody>
      </p:sp>
      <p:sp>
        <p:nvSpPr>
          <p:cNvPr id="7" name="Text 5"/>
          <p:cNvSpPr/>
          <p:nvPr/>
        </p:nvSpPr>
        <p:spPr>
          <a:xfrm>
            <a:off x="1022350" y="2490470"/>
            <a:ext cx="21322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Class assignments and deadlines</a:t>
            </a:r>
            <a:endParaRPr lang="en-US" sz="1400" dirty="0"/>
          </a:p>
        </p:txBody>
      </p:sp>
      <p:sp>
        <p:nvSpPr>
          <p:cNvPr id="8" name="Shape 6"/>
          <p:cNvSpPr/>
          <p:nvPr/>
        </p:nvSpPr>
        <p:spPr>
          <a:xfrm>
            <a:off x="3508375" y="1781175"/>
            <a:ext cx="2482850" cy="1687830"/>
          </a:xfrm>
          <a:prstGeom prst="roundRect">
            <a:avLst>
              <a:gd name="adj" fmla="val 5831"/>
            </a:avLst>
          </a:prstGeom>
          <a:solidFill>
            <a:srgbClr val="FBFAF6"/>
          </a:solidFill>
          <a:ln w="6350">
            <a:solidFill>
              <a:srgbClr val="E2DED3"/>
            </a:solidFill>
            <a:prstDash val="solid"/>
          </a:ln>
        </p:spPr>
      </p:sp>
      <p:sp>
        <p:nvSpPr>
          <p:cNvPr id="9" name="Shape 7"/>
          <p:cNvSpPr/>
          <p:nvPr/>
        </p:nvSpPr>
        <p:spPr>
          <a:xfrm>
            <a:off x="3714750" y="1987550"/>
            <a:ext cx="406400" cy="76200"/>
          </a:xfrm>
          <a:prstGeom prst="roundRect">
            <a:avLst>
              <a:gd name="adj" fmla="val 50000"/>
            </a:avLst>
          </a:prstGeom>
          <a:solidFill>
            <a:srgbClr val="2563EB"/>
          </a:solidFill>
          <a:ln/>
        </p:spPr>
      </p:sp>
      <p:sp>
        <p:nvSpPr>
          <p:cNvPr id="10" name="Text 8"/>
          <p:cNvSpPr/>
          <p:nvPr/>
        </p:nvSpPr>
        <p:spPr>
          <a:xfrm>
            <a:off x="3714750" y="2139950"/>
            <a:ext cx="21322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Google Calendar</a:t>
            </a:r>
            <a:endParaRPr lang="en-US" sz="1800" dirty="0"/>
          </a:p>
        </p:txBody>
      </p:sp>
      <p:sp>
        <p:nvSpPr>
          <p:cNvPr id="11" name="Text 9"/>
          <p:cNvSpPr/>
          <p:nvPr/>
        </p:nvSpPr>
        <p:spPr>
          <a:xfrm>
            <a:off x="3714750" y="2490470"/>
            <a:ext cx="21322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A part-time job and personal plans</a:t>
            </a:r>
            <a:endParaRPr lang="en-US" sz="1400" dirty="0"/>
          </a:p>
        </p:txBody>
      </p:sp>
      <p:sp>
        <p:nvSpPr>
          <p:cNvPr id="12" name="Shape 10"/>
          <p:cNvSpPr/>
          <p:nvPr/>
        </p:nvSpPr>
        <p:spPr>
          <a:xfrm>
            <a:off x="6200775" y="1781175"/>
            <a:ext cx="2482850" cy="1687830"/>
          </a:xfrm>
          <a:prstGeom prst="roundRect">
            <a:avLst>
              <a:gd name="adj" fmla="val 5831"/>
            </a:avLst>
          </a:prstGeom>
          <a:solidFill>
            <a:srgbClr val="FBFAF6"/>
          </a:solidFill>
          <a:ln w="6350">
            <a:solidFill>
              <a:srgbClr val="E2DED3"/>
            </a:solidFill>
            <a:prstDash val="solid"/>
          </a:ln>
        </p:spPr>
      </p:sp>
      <p:sp>
        <p:nvSpPr>
          <p:cNvPr id="13" name="Shape 11"/>
          <p:cNvSpPr/>
          <p:nvPr/>
        </p:nvSpPr>
        <p:spPr>
          <a:xfrm>
            <a:off x="6407150" y="1987550"/>
            <a:ext cx="406400" cy="76200"/>
          </a:xfrm>
          <a:prstGeom prst="roundRect">
            <a:avLst>
              <a:gd name="adj" fmla="val 50000"/>
            </a:avLst>
          </a:prstGeom>
          <a:solidFill>
            <a:srgbClr val="6D43C4"/>
          </a:solidFill>
          <a:ln/>
        </p:spPr>
      </p:sp>
      <p:sp>
        <p:nvSpPr>
          <p:cNvPr id="14" name="Text 12"/>
          <p:cNvSpPr/>
          <p:nvPr/>
        </p:nvSpPr>
        <p:spPr>
          <a:xfrm>
            <a:off x="6407150" y="2139950"/>
            <a:ext cx="2132203"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Microsoft Teams/Outlook</a:t>
            </a:r>
            <a:endParaRPr lang="en-US" sz="1800" dirty="0"/>
          </a:p>
        </p:txBody>
      </p:sp>
      <p:sp>
        <p:nvSpPr>
          <p:cNvPr id="15" name="Text 13"/>
          <p:cNvSpPr/>
          <p:nvPr/>
        </p:nvSpPr>
        <p:spPr>
          <a:xfrm>
            <a:off x="6407150" y="2764790"/>
            <a:ext cx="21322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Club meetings and workplace calendars</a:t>
            </a:r>
            <a:endParaRPr lang="en-US" sz="1400" dirty="0"/>
          </a:p>
        </p:txBody>
      </p:sp>
      <p:sp>
        <p:nvSpPr>
          <p:cNvPr id="16" name="Shape 14"/>
          <p:cNvSpPr/>
          <p:nvPr/>
        </p:nvSpPr>
        <p:spPr>
          <a:xfrm>
            <a:off x="8893175" y="1781175"/>
            <a:ext cx="2482850" cy="1687830"/>
          </a:xfrm>
          <a:prstGeom prst="roundRect">
            <a:avLst>
              <a:gd name="adj" fmla="val 5831"/>
            </a:avLst>
          </a:prstGeom>
          <a:solidFill>
            <a:srgbClr val="FBFAF6"/>
          </a:solidFill>
          <a:ln w="6350">
            <a:solidFill>
              <a:srgbClr val="E2DED3"/>
            </a:solidFill>
            <a:prstDash val="solid"/>
          </a:ln>
        </p:spPr>
      </p:sp>
      <p:sp>
        <p:nvSpPr>
          <p:cNvPr id="17" name="Shape 15"/>
          <p:cNvSpPr/>
          <p:nvPr/>
        </p:nvSpPr>
        <p:spPr>
          <a:xfrm>
            <a:off x="9099550" y="1987550"/>
            <a:ext cx="406400" cy="76200"/>
          </a:xfrm>
          <a:prstGeom prst="roundRect">
            <a:avLst>
              <a:gd name="adj" fmla="val 50000"/>
            </a:avLst>
          </a:prstGeom>
          <a:solidFill>
            <a:srgbClr val="1F7A52"/>
          </a:solidFill>
          <a:ln/>
        </p:spPr>
      </p:sp>
      <p:sp>
        <p:nvSpPr>
          <p:cNvPr id="18" name="Text 16"/>
          <p:cNvSpPr/>
          <p:nvPr/>
        </p:nvSpPr>
        <p:spPr>
          <a:xfrm>
            <a:off x="9099550" y="2139950"/>
            <a:ext cx="213220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Apple Calendar</a:t>
            </a:r>
            <a:endParaRPr lang="en-US" sz="1800" dirty="0"/>
          </a:p>
        </p:txBody>
      </p:sp>
      <p:sp>
        <p:nvSpPr>
          <p:cNvPr id="19" name="Text 17"/>
          <p:cNvSpPr/>
          <p:nvPr/>
        </p:nvSpPr>
        <p:spPr>
          <a:xfrm>
            <a:off x="9099550" y="2490470"/>
            <a:ext cx="213220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Personal appointments</a:t>
            </a:r>
            <a:endParaRPr lang="en-US" sz="1400" dirty="0"/>
          </a:p>
        </p:txBody>
      </p:sp>
      <p:sp>
        <p:nvSpPr>
          <p:cNvPr id="20" name="Text 18"/>
          <p:cNvSpPr/>
          <p:nvPr/>
        </p:nvSpPr>
        <p:spPr>
          <a:xfrm>
            <a:off x="812800" y="3776980"/>
            <a:ext cx="98107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6233A"/>
                </a:solidFill>
                <a:latin typeface="DM Sans" pitchFamily="34" charset="0"/>
                <a:ea typeface="DM Sans" pitchFamily="34" charset="-122"/>
                <a:cs typeface="DM Sans" pitchFamily="34" charset="-120"/>
              </a:rPr>
              <a:t>Switching between them leads to missed deadlines and accidental double-bookings, and moving events by hand takes time.</a:t>
            </a:r>
            <a:endParaRPr lang="en-US" sz="2000" dirty="0"/>
          </a:p>
        </p:txBody>
      </p:sp>
      <p:sp>
        <p:nvSpPr>
          <p:cNvPr id="21" name="Text 19"/>
          <p:cNvSpPr/>
          <p:nvPr/>
        </p:nvSpPr>
        <p:spPr>
          <a:xfrm>
            <a:off x="812800" y="6238239"/>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Atlas</a:t>
            </a:r>
            <a:endParaRPr lang="en-US" sz="1200" dirty="0"/>
          </a:p>
        </p:txBody>
      </p:sp>
      <p:sp>
        <p:nvSpPr>
          <p:cNvPr id="22" name="Text 20"/>
          <p:cNvSpPr/>
          <p:nvPr/>
        </p:nvSpPr>
        <p:spPr>
          <a:xfrm>
            <a:off x="5492750" y="6238239"/>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Intro and the problem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0A"/>
                </a:solidFill>
                <a:latin typeface="DM Sans" pitchFamily="34" charset="0"/>
                <a:ea typeface="DM Sans" pitchFamily="34" charset="-122"/>
                <a:cs typeface="DM Sans" pitchFamily="34" charset="-120"/>
              </a:rPr>
              <a:t>PRODUCT DESCRIPTION</a:t>
            </a:r>
            <a:endParaRPr lang="en-US" sz="1200" dirty="0"/>
          </a:p>
        </p:txBody>
      </p:sp>
      <p:sp>
        <p:nvSpPr>
          <p:cNvPr id="3" name="Text 1"/>
          <p:cNvSpPr/>
          <p:nvPr>
            <p:ph type="title"/>
          </p:nvPr>
        </p:nvSpPr>
        <p:spPr>
          <a:xfrm>
            <a:off x="812800" y="1026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A"/>
                </a:solidFill>
                <a:latin typeface="DM Sans" pitchFamily="34" charset="0"/>
                <a:ea typeface="DM Sans" pitchFamily="34" charset="-122"/>
                <a:cs typeface="DM Sans" pitchFamily="34" charset="-120"/>
              </a:rPr>
              <a:t>One calendar for every source</a:t>
            </a:r>
            <a:endParaRPr lang="en-US" sz="3200" dirty="0"/>
          </a:p>
        </p:txBody>
      </p:sp>
      <p:sp>
        <p:nvSpPr>
          <p:cNvPr id="4" name="Text 2"/>
          <p:cNvSpPr/>
          <p:nvPr/>
        </p:nvSpPr>
        <p:spPr>
          <a:xfrm>
            <a:off x="812800" y="2578100"/>
            <a:ext cx="58864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6233A"/>
                </a:solidFill>
                <a:latin typeface="DM Sans" pitchFamily="34" charset="0"/>
                <a:ea typeface="DM Sans" pitchFamily="34" charset="-122"/>
                <a:cs typeface="DM Sans" pitchFamily="34" charset="-120"/>
              </a:rPr>
              <a:t>Atlas is a web-based calendar application that brings a user's entire schedule into one place.</a:t>
            </a:r>
            <a:endParaRPr lang="en-US" sz="2000" dirty="0"/>
          </a:p>
        </p:txBody>
      </p:sp>
      <p:sp>
        <p:nvSpPr>
          <p:cNvPr id="5" name="Text 3"/>
          <p:cNvSpPr/>
          <p:nvPr/>
        </p:nvSpPr>
        <p:spPr>
          <a:xfrm>
            <a:off x="812800" y="3441700"/>
            <a:ext cx="588645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Classes, meetings, assignments, appointments, and personal events sit side by side, so nobody has to switch between apps.</a:t>
            </a:r>
            <a:endParaRPr lang="en-US" sz="1600" dirty="0"/>
          </a:p>
        </p:txBody>
      </p:sp>
      <p:sp>
        <p:nvSpPr>
          <p:cNvPr id="6" name="Shape 4"/>
          <p:cNvSpPr/>
          <p:nvPr/>
        </p:nvSpPr>
        <p:spPr>
          <a:xfrm>
            <a:off x="6937375" y="1781175"/>
            <a:ext cx="4438650" cy="3310890"/>
          </a:xfrm>
          <a:prstGeom prst="roundRect">
            <a:avLst>
              <a:gd name="adj" fmla="val 3740"/>
            </a:avLst>
          </a:prstGeom>
          <a:solidFill>
            <a:srgbClr val="FBFAF6"/>
          </a:solidFill>
          <a:ln w="6350">
            <a:solidFill>
              <a:srgbClr val="E2DED3"/>
            </a:solidFill>
            <a:prstDash val="solid"/>
          </a:ln>
        </p:spPr>
      </p:sp>
      <p:sp>
        <p:nvSpPr>
          <p:cNvPr id="7" name="Text 5"/>
          <p:cNvSpPr/>
          <p:nvPr/>
        </p:nvSpPr>
        <p:spPr>
          <a:xfrm>
            <a:off x="7194550" y="2038350"/>
            <a:ext cx="404202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6472"/>
                </a:solidFill>
                <a:latin typeface="DM Sans" pitchFamily="34" charset="0"/>
                <a:ea typeface="DM Sans" pitchFamily="34" charset="-122"/>
                <a:cs typeface="DM Sans" pitchFamily="34" charset="-120"/>
              </a:rPr>
              <a:t>SOURCES COMBINED</a:t>
            </a:r>
            <a:endParaRPr lang="en-US" sz="1200" dirty="0"/>
          </a:p>
        </p:txBody>
      </p:sp>
      <p:sp>
        <p:nvSpPr>
          <p:cNvPr id="8" name="Shape 6"/>
          <p:cNvSpPr/>
          <p:nvPr/>
        </p:nvSpPr>
        <p:spPr>
          <a:xfrm>
            <a:off x="7194550" y="2449830"/>
            <a:ext cx="177800" cy="177800"/>
          </a:xfrm>
          <a:prstGeom prst="roundRect">
            <a:avLst>
              <a:gd name="adj" fmla="val 28571"/>
            </a:avLst>
          </a:prstGeom>
          <a:solidFill>
            <a:srgbClr val="2563EB"/>
          </a:solidFill>
          <a:ln/>
        </p:spPr>
      </p:sp>
      <p:sp>
        <p:nvSpPr>
          <p:cNvPr id="9" name="Text 7"/>
          <p:cNvSpPr/>
          <p:nvPr/>
        </p:nvSpPr>
        <p:spPr>
          <a:xfrm>
            <a:off x="7499350" y="2378711"/>
            <a:ext cx="2113788"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6233A"/>
                </a:solidFill>
                <a:latin typeface="DM Sans" pitchFamily="34" charset="0"/>
                <a:ea typeface="DM Sans" pitchFamily="34" charset="-122"/>
                <a:cs typeface="DM Sans" pitchFamily="34" charset="-120"/>
              </a:rPr>
              <a:t>Google Calendar</a:t>
            </a:r>
            <a:endParaRPr lang="en-US" sz="1800" dirty="0"/>
          </a:p>
        </p:txBody>
      </p:sp>
      <p:sp>
        <p:nvSpPr>
          <p:cNvPr id="10" name="Shape 8"/>
          <p:cNvSpPr/>
          <p:nvPr/>
        </p:nvSpPr>
        <p:spPr>
          <a:xfrm>
            <a:off x="7194550" y="2896870"/>
            <a:ext cx="177800" cy="177800"/>
          </a:xfrm>
          <a:prstGeom prst="roundRect">
            <a:avLst>
              <a:gd name="adj" fmla="val 28571"/>
            </a:avLst>
          </a:prstGeom>
          <a:solidFill>
            <a:srgbClr val="6D43C4"/>
          </a:solidFill>
          <a:ln/>
        </p:spPr>
      </p:sp>
      <p:sp>
        <p:nvSpPr>
          <p:cNvPr id="11" name="Text 9"/>
          <p:cNvSpPr/>
          <p:nvPr/>
        </p:nvSpPr>
        <p:spPr>
          <a:xfrm>
            <a:off x="7499350" y="2825750"/>
            <a:ext cx="3204337"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6233A"/>
                </a:solidFill>
                <a:latin typeface="DM Sans" pitchFamily="34" charset="0"/>
                <a:ea typeface="DM Sans" pitchFamily="34" charset="-122"/>
                <a:cs typeface="DM Sans" pitchFamily="34" charset="-120"/>
              </a:rPr>
              <a:t>Microsoft Teams/Outlook</a:t>
            </a:r>
            <a:endParaRPr lang="en-US" sz="1800" dirty="0"/>
          </a:p>
        </p:txBody>
      </p:sp>
      <p:sp>
        <p:nvSpPr>
          <p:cNvPr id="12" name="Shape 10"/>
          <p:cNvSpPr/>
          <p:nvPr/>
        </p:nvSpPr>
        <p:spPr>
          <a:xfrm>
            <a:off x="7194550" y="3343911"/>
            <a:ext cx="177800" cy="177800"/>
          </a:xfrm>
          <a:prstGeom prst="roundRect">
            <a:avLst>
              <a:gd name="adj" fmla="val 28571"/>
            </a:avLst>
          </a:prstGeom>
          <a:solidFill>
            <a:srgbClr val="C42F42"/>
          </a:solidFill>
          <a:ln/>
        </p:spPr>
      </p:sp>
      <p:sp>
        <p:nvSpPr>
          <p:cNvPr id="13" name="Text 11"/>
          <p:cNvSpPr/>
          <p:nvPr/>
        </p:nvSpPr>
        <p:spPr>
          <a:xfrm>
            <a:off x="7499350" y="3272789"/>
            <a:ext cx="925195"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6233A"/>
                </a:solidFill>
                <a:latin typeface="DM Sans" pitchFamily="34" charset="0"/>
                <a:ea typeface="DM Sans" pitchFamily="34" charset="-122"/>
                <a:cs typeface="DM Sans" pitchFamily="34" charset="-120"/>
              </a:rPr>
              <a:t>Canvas</a:t>
            </a:r>
            <a:endParaRPr lang="en-US" sz="1800" dirty="0"/>
          </a:p>
        </p:txBody>
      </p:sp>
      <p:sp>
        <p:nvSpPr>
          <p:cNvPr id="14" name="Shape 12"/>
          <p:cNvSpPr/>
          <p:nvPr/>
        </p:nvSpPr>
        <p:spPr>
          <a:xfrm>
            <a:off x="7194550" y="3790950"/>
            <a:ext cx="177800" cy="177800"/>
          </a:xfrm>
          <a:prstGeom prst="roundRect">
            <a:avLst>
              <a:gd name="adj" fmla="val 28571"/>
            </a:avLst>
          </a:prstGeom>
          <a:solidFill>
            <a:srgbClr val="1F7A52"/>
          </a:solidFill>
          <a:ln/>
        </p:spPr>
      </p:sp>
      <p:sp>
        <p:nvSpPr>
          <p:cNvPr id="15" name="Text 13"/>
          <p:cNvSpPr/>
          <p:nvPr/>
        </p:nvSpPr>
        <p:spPr>
          <a:xfrm>
            <a:off x="7499350" y="3719830"/>
            <a:ext cx="1958721"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6233A"/>
                </a:solidFill>
                <a:latin typeface="DM Sans" pitchFamily="34" charset="0"/>
                <a:ea typeface="DM Sans" pitchFamily="34" charset="-122"/>
                <a:cs typeface="DM Sans" pitchFamily="34" charset="-120"/>
              </a:rPr>
              <a:t>Apple Calendar</a:t>
            </a:r>
            <a:endParaRPr lang="en-US" sz="1800" dirty="0"/>
          </a:p>
        </p:txBody>
      </p:sp>
      <p:pic>
        <p:nvPicPr>
          <p:cNvPr id="16" name="Image 0" descr="line">    </p:cNvPr>
          <p:cNvPicPr>
            <a:picLocks noChangeAspect="1"/>
          </p:cNvPicPr>
          <p:nvPr/>
        </p:nvPicPr>
        <p:blipFill>
          <a:blip r:embed="rId1"/>
          <a:srcRect l="0" r="0" t="0" b="0"/>
          <a:stretch/>
        </p:blipFill>
        <p:spPr>
          <a:xfrm>
            <a:off x="7194550" y="4166870"/>
            <a:ext cx="3937000" cy="12700"/>
          </a:xfrm>
          <a:prstGeom prst="rect">
            <a:avLst/>
          </a:prstGeom>
        </p:spPr>
      </p:pic>
      <p:sp>
        <p:nvSpPr>
          <p:cNvPr id="17" name="Text 14"/>
          <p:cNvSpPr/>
          <p:nvPr/>
        </p:nvSpPr>
        <p:spPr>
          <a:xfrm>
            <a:off x="7194550" y="4306570"/>
            <a:ext cx="4042029"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A"/>
                </a:solidFill>
                <a:latin typeface="DM Sans" pitchFamily="34" charset="0"/>
                <a:ea typeface="DM Sans" pitchFamily="34" charset="-122"/>
                <a:cs typeface="DM Sans" pitchFamily="34" charset="-120"/>
              </a:rPr>
              <a:t>Color-coded by where each event came from</a:t>
            </a:r>
            <a:endParaRPr lang="en-US" sz="1600" dirty="0"/>
          </a:p>
        </p:txBody>
      </p:sp>
      <p:sp>
        <p:nvSpPr>
          <p:cNvPr id="18" name="Text 15"/>
          <p:cNvSpPr/>
          <p:nvPr/>
        </p:nvSpPr>
        <p:spPr>
          <a:xfrm>
            <a:off x="812800" y="6238239"/>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Atlas</a:t>
            </a:r>
            <a:endParaRPr lang="en-US" sz="1200" dirty="0"/>
          </a:p>
        </p:txBody>
      </p:sp>
      <p:sp>
        <p:nvSpPr>
          <p:cNvPr id="19" name="Text 16"/>
          <p:cNvSpPr/>
          <p:nvPr/>
        </p:nvSpPr>
        <p:spPr>
          <a:xfrm>
            <a:off x="5492750" y="6238239"/>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Product description and MVP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0A"/>
                </a:solidFill>
                <a:latin typeface="DM Sans" pitchFamily="34" charset="0"/>
                <a:ea typeface="DM Sans" pitchFamily="34" charset="-122"/>
                <a:cs typeface="DM Sans" pitchFamily="34" charset="-120"/>
              </a:rPr>
              <a:t>MVP</a:t>
            </a:r>
            <a:endParaRPr lang="en-US" sz="1200" dirty="0"/>
          </a:p>
        </p:txBody>
      </p:sp>
      <p:sp>
        <p:nvSpPr>
          <p:cNvPr id="3" name="Text 1"/>
          <p:cNvSpPr/>
          <p:nvPr>
            <p:ph type="title"/>
          </p:nvPr>
        </p:nvSpPr>
        <p:spPr>
          <a:xfrm>
            <a:off x="812800" y="1026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A"/>
                </a:solidFill>
                <a:latin typeface="DM Sans" pitchFamily="34" charset="0"/>
                <a:ea typeface="DM Sans" pitchFamily="34" charset="-122"/>
                <a:cs typeface="DM Sans" pitchFamily="34" charset="-120"/>
              </a:rPr>
              <a:t>The MVP scope</a:t>
            </a:r>
            <a:endParaRPr lang="en-US" sz="3200" dirty="0"/>
          </a:p>
        </p:txBody>
      </p:sp>
      <p:sp>
        <p:nvSpPr>
          <p:cNvPr id="4" name="Shape 2"/>
          <p:cNvSpPr/>
          <p:nvPr/>
        </p:nvSpPr>
        <p:spPr>
          <a:xfrm>
            <a:off x="815975" y="1781175"/>
            <a:ext cx="3380317" cy="2393950"/>
          </a:xfrm>
          <a:prstGeom prst="roundRect">
            <a:avLst>
              <a:gd name="adj" fmla="val 5172"/>
            </a:avLst>
          </a:prstGeom>
          <a:solidFill>
            <a:srgbClr val="FBFAF6"/>
          </a:solidFill>
          <a:ln w="6350">
            <a:solidFill>
              <a:srgbClr val="E2DED3"/>
            </a:solidFill>
            <a:prstDash val="solid"/>
          </a:ln>
        </p:spPr>
      </p:sp>
      <p:pic>
        <p:nvPicPr>
          <p:cNvPr id="5" name="Image 0" descr="Clock">    </p:cNvPr>
          <p:cNvPicPr>
            <a:picLocks noChangeAspect="1"/>
          </p:cNvPicPr>
          <p:nvPr/>
        </p:nvPicPr>
        <p:blipFill>
          <a:blip r:embed="rId1"/>
          <a:srcRect l="0" r="0" t="0" b="0"/>
          <a:stretch/>
        </p:blipFill>
        <p:spPr>
          <a:xfrm>
            <a:off x="1073150" y="2038350"/>
            <a:ext cx="406400" cy="406400"/>
          </a:xfrm>
          <a:prstGeom prst="rect">
            <a:avLst/>
          </a:prstGeom>
        </p:spPr>
      </p:pic>
      <p:sp>
        <p:nvSpPr>
          <p:cNvPr id="6" name="Text 3"/>
          <p:cNvSpPr/>
          <p:nvPr/>
        </p:nvSpPr>
        <p:spPr>
          <a:xfrm>
            <a:off x="1073150" y="2546350"/>
            <a:ext cx="295194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Unified calendar</a:t>
            </a:r>
            <a:endParaRPr lang="en-US" sz="1800" dirty="0"/>
          </a:p>
        </p:txBody>
      </p:sp>
      <p:sp>
        <p:nvSpPr>
          <p:cNvPr id="7" name="Text 4"/>
          <p:cNvSpPr/>
          <p:nvPr/>
        </p:nvSpPr>
        <p:spPr>
          <a:xfrm>
            <a:off x="1073150" y="2922270"/>
            <a:ext cx="29519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One view for classes, meetings, assignments, and personal events.</a:t>
            </a:r>
            <a:endParaRPr lang="en-US" sz="1400" dirty="0"/>
          </a:p>
        </p:txBody>
      </p:sp>
      <p:sp>
        <p:nvSpPr>
          <p:cNvPr id="8" name="Shape 5"/>
          <p:cNvSpPr/>
          <p:nvPr/>
        </p:nvSpPr>
        <p:spPr>
          <a:xfrm>
            <a:off x="4405842" y="1781175"/>
            <a:ext cx="3380317" cy="2393950"/>
          </a:xfrm>
          <a:prstGeom prst="roundRect">
            <a:avLst>
              <a:gd name="adj" fmla="val 5172"/>
            </a:avLst>
          </a:prstGeom>
          <a:solidFill>
            <a:srgbClr val="FBFAF6"/>
          </a:solidFill>
          <a:ln w="6350">
            <a:solidFill>
              <a:srgbClr val="E2DED3"/>
            </a:solidFill>
            <a:prstDash val="solid"/>
          </a:ln>
        </p:spPr>
      </p:sp>
      <p:pic>
        <p:nvPicPr>
          <p:cNvPr id="9" name="Image 1" descr="Link">    </p:cNvPr>
          <p:cNvPicPr>
            <a:picLocks noChangeAspect="1"/>
          </p:cNvPicPr>
          <p:nvPr/>
        </p:nvPicPr>
        <p:blipFill>
          <a:blip r:embed="rId2"/>
          <a:srcRect l="0" r="0" t="0" b="0"/>
          <a:stretch/>
        </p:blipFill>
        <p:spPr>
          <a:xfrm>
            <a:off x="4663017" y="2038350"/>
            <a:ext cx="406400" cy="406400"/>
          </a:xfrm>
          <a:prstGeom prst="rect">
            <a:avLst/>
          </a:prstGeom>
        </p:spPr>
      </p:pic>
      <p:sp>
        <p:nvSpPr>
          <p:cNvPr id="10" name="Text 6"/>
          <p:cNvSpPr/>
          <p:nvPr/>
        </p:nvSpPr>
        <p:spPr>
          <a:xfrm>
            <a:off x="4663017" y="2546350"/>
            <a:ext cx="295194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Two or more sources</a:t>
            </a:r>
            <a:endParaRPr lang="en-US" sz="1800" dirty="0"/>
          </a:p>
        </p:txBody>
      </p:sp>
      <p:sp>
        <p:nvSpPr>
          <p:cNvPr id="11" name="Text 7"/>
          <p:cNvSpPr/>
          <p:nvPr/>
        </p:nvSpPr>
        <p:spPr>
          <a:xfrm>
            <a:off x="4663017" y="2922270"/>
            <a:ext cx="295194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Connect at least two of the four sources: Google Calendar, Microsoft Teams/Outlook, Canvas, and Apple Calendar.</a:t>
            </a:r>
            <a:endParaRPr lang="en-US" sz="1400" dirty="0"/>
          </a:p>
        </p:txBody>
      </p:sp>
      <p:sp>
        <p:nvSpPr>
          <p:cNvPr id="12" name="Shape 8"/>
          <p:cNvSpPr/>
          <p:nvPr/>
        </p:nvSpPr>
        <p:spPr>
          <a:xfrm>
            <a:off x="7995708" y="1781175"/>
            <a:ext cx="3380317" cy="2393950"/>
          </a:xfrm>
          <a:prstGeom prst="roundRect">
            <a:avLst>
              <a:gd name="adj" fmla="val 5172"/>
            </a:avLst>
          </a:prstGeom>
          <a:solidFill>
            <a:srgbClr val="FBFAF6"/>
          </a:solidFill>
          <a:ln w="6350">
            <a:solidFill>
              <a:srgbClr val="E2DED3"/>
            </a:solidFill>
            <a:prstDash val="solid"/>
          </a:ln>
        </p:spPr>
      </p:sp>
      <p:pic>
        <p:nvPicPr>
          <p:cNvPr id="13" name="Image 2" descr="Chat">    </p:cNvPr>
          <p:cNvPicPr>
            <a:picLocks noChangeAspect="1"/>
          </p:cNvPicPr>
          <p:nvPr/>
        </p:nvPicPr>
        <p:blipFill>
          <a:blip r:embed="rId3"/>
          <a:srcRect l="0" r="0" t="0" b="0"/>
          <a:stretch/>
        </p:blipFill>
        <p:spPr>
          <a:xfrm>
            <a:off x="8252883" y="2038350"/>
            <a:ext cx="406400" cy="406400"/>
          </a:xfrm>
          <a:prstGeom prst="rect">
            <a:avLst/>
          </a:prstGeom>
        </p:spPr>
      </p:pic>
      <p:sp>
        <p:nvSpPr>
          <p:cNvPr id="14" name="Text 9"/>
          <p:cNvSpPr/>
          <p:nvPr/>
        </p:nvSpPr>
        <p:spPr>
          <a:xfrm>
            <a:off x="8252883" y="2546350"/>
            <a:ext cx="295194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Basic AI assistant</a:t>
            </a:r>
            <a:endParaRPr lang="en-US" sz="1800" dirty="0"/>
          </a:p>
        </p:txBody>
      </p:sp>
      <p:sp>
        <p:nvSpPr>
          <p:cNvPr id="15" name="Text 10"/>
          <p:cNvSpPr/>
          <p:nvPr/>
        </p:nvSpPr>
        <p:spPr>
          <a:xfrm>
            <a:off x="8252883" y="2922270"/>
            <a:ext cx="29519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Reads schedule information and performs simple task actions.</a:t>
            </a:r>
            <a:endParaRPr lang="en-US" sz="1400" dirty="0"/>
          </a:p>
        </p:txBody>
      </p:sp>
      <p:sp>
        <p:nvSpPr>
          <p:cNvPr id="16" name="Text 11"/>
          <p:cNvSpPr/>
          <p:nvPr/>
        </p:nvSpPr>
        <p:spPr>
          <a:xfrm>
            <a:off x="812800" y="6238239"/>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Atlas</a:t>
            </a:r>
            <a:endParaRPr lang="en-US" sz="1200" dirty="0"/>
          </a:p>
        </p:txBody>
      </p:sp>
      <p:sp>
        <p:nvSpPr>
          <p:cNvPr id="17" name="Text 12"/>
          <p:cNvSpPr/>
          <p:nvPr/>
        </p:nvSpPr>
        <p:spPr>
          <a:xfrm>
            <a:off x="5492750" y="6238239"/>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Product description and MVP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33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DM Sans" pitchFamily="34" charset="0"/>
                <a:ea typeface="DM Sans" pitchFamily="34" charset="-122"/>
                <a:cs typeface="DM Sans" pitchFamily="34" charset="-120"/>
              </a:rPr>
              <a:t>SMART FEATURES: AI ASSISTANT</a:t>
            </a:r>
            <a:endParaRPr lang="en-US" sz="1200" dirty="0"/>
          </a:p>
        </p:txBody>
      </p:sp>
      <p:sp>
        <p:nvSpPr>
          <p:cNvPr id="3" name="Text 1"/>
          <p:cNvSpPr/>
          <p:nvPr>
            <p:ph type="title"/>
          </p:nvPr>
        </p:nvSpPr>
        <p:spPr>
          <a:xfrm>
            <a:off x="812800" y="1026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DM Sans" pitchFamily="34" charset="0"/>
                <a:ea typeface="DM Sans" pitchFamily="34" charset="-122"/>
                <a:cs typeface="DM Sans" pitchFamily="34" charset="-120"/>
              </a:rPr>
              <a:t>An assistant that knows the schedule</a:t>
            </a:r>
            <a:endParaRPr lang="en-US" sz="3200" dirty="0"/>
          </a:p>
        </p:txBody>
      </p:sp>
      <p:sp>
        <p:nvSpPr>
          <p:cNvPr id="4" name="Text 2"/>
          <p:cNvSpPr/>
          <p:nvPr/>
        </p:nvSpPr>
        <p:spPr>
          <a:xfrm>
            <a:off x="812800" y="1778000"/>
            <a:ext cx="5080000" cy="857250"/>
          </a:xfrm>
          <a:prstGeom prst="roundRect">
            <a:avLst>
              <a:gd name="adj" fmla="val 11852"/>
            </a:avLst>
          </a:prstGeom>
          <a:solidFill>
            <a:srgbClr val="22324D"/>
          </a:solidFill>
          <a:ln/>
        </p:spPr>
        <p:txBody>
          <a:bodyPr wrap="square" lIns="275042" tIns="224242" rIns="88606" bIns="198842" rtlCol="0" anchor="t">
            <a:normAutofit/>
          </a:bodyPr>
          <a:lstStyle/>
          <a:p>
            <a:pPr algn="l" indent="0" marL="0">
              <a:lnSpc>
                <a:spcPts val="2750"/>
              </a:lnSpc>
              <a:buNone/>
            </a:pPr>
            <a:r>
              <a:rPr lang="en-US" sz="2200" i="1" dirty="0">
                <a:solidFill>
                  <a:srgbClr val="F6F4EE"/>
                </a:solidFill>
                <a:latin typeface="DM Sans" pitchFamily="34" charset="0"/>
                <a:ea typeface="DM Sans" pitchFamily="34" charset="-122"/>
                <a:cs typeface="DM Sans" pitchFamily="34" charset="-120"/>
              </a:rPr>
              <a:t>"What should I work on right now?"</a:t>
            </a:r>
            <a:endParaRPr lang="en-US" sz="2200" dirty="0"/>
          </a:p>
        </p:txBody>
      </p:sp>
      <p:sp>
        <p:nvSpPr>
          <p:cNvPr id="5" name="Shape 3"/>
          <p:cNvSpPr/>
          <p:nvPr/>
        </p:nvSpPr>
        <p:spPr>
          <a:xfrm>
            <a:off x="812800" y="1778000"/>
            <a:ext cx="5080000" cy="857250"/>
          </a:xfrm>
          <a:custGeom>
            <a:avLst/>
            <a:gdLst/>
            <a:ahLst/>
            <a:cxnLst/>
            <a:rect l="l" t="t" r="r" b="b"/>
            <a:pathLst>
              <a:path w="5080000" h="857250">
                <a:moveTo>
                  <a:pt x="101600" y="857250"/>
                </a:moveTo>
                <a:lnTo>
                  <a:pt x="101600" y="857250"/>
                </a:lnTo>
                <a:arcTo hR="101600" wR="101600" stAng="5400000" swAng="5400000"/>
                <a:lnTo>
                  <a:pt x="0" y="101600"/>
                </a:lnTo>
                <a:arcTo hR="101600" wR="101600" stAng="10800000" swAng="5400000"/>
                <a:lnTo>
                  <a:pt x="101600" y="0"/>
                </a:lnTo>
                <a:arcTo hR="101600" wR="50800" stAng="16200000" swAng="-5400000"/>
                <a:lnTo>
                  <a:pt x="50800" y="755650"/>
                </a:lnTo>
                <a:arcTo hR="101600" wR="50800" stAng="10800000" swAng="-5400000"/>
                <a:close/>
              </a:path>
            </a:pathLst>
          </a:custGeom>
          <a:solidFill>
            <a:srgbClr val="F4A261"/>
          </a:solidFill>
          <a:ln/>
        </p:spPr>
      </p:sp>
      <p:sp>
        <p:nvSpPr>
          <p:cNvPr id="6" name="Text 4"/>
          <p:cNvSpPr/>
          <p:nvPr/>
        </p:nvSpPr>
        <p:spPr>
          <a:xfrm>
            <a:off x="812800" y="2838450"/>
            <a:ext cx="5080000" cy="1206500"/>
          </a:xfrm>
          <a:prstGeom prst="roundRect">
            <a:avLst>
              <a:gd name="adj" fmla="val 8421"/>
            </a:avLst>
          </a:prstGeom>
          <a:solidFill>
            <a:srgbClr val="22324D"/>
          </a:solidFill>
          <a:ln/>
        </p:spPr>
        <p:txBody>
          <a:bodyPr wrap="square" lIns="275042" tIns="224242" rIns="88606" bIns="198842" rtlCol="0" anchor="t">
            <a:normAutofit/>
          </a:bodyPr>
          <a:lstStyle/>
          <a:p>
            <a:pPr algn="l" indent="0" marL="0">
              <a:lnSpc>
                <a:spcPts val="2750"/>
              </a:lnSpc>
              <a:buNone/>
            </a:pPr>
            <a:r>
              <a:rPr lang="en-US" sz="2200" i="1" dirty="0">
                <a:solidFill>
                  <a:srgbClr val="F6F4EE"/>
                </a:solidFill>
                <a:latin typeface="DM Sans" pitchFamily="34" charset="0"/>
                <a:ea typeface="DM Sans" pitchFamily="34" charset="-122"/>
                <a:cs typeface="DM Sans" pitchFamily="34" charset="-120"/>
              </a:rPr>
              <a:t>"Can I finish this assignment before Friday?"</a:t>
            </a:r>
            <a:endParaRPr lang="en-US" sz="2200" dirty="0"/>
          </a:p>
        </p:txBody>
      </p:sp>
      <p:sp>
        <p:nvSpPr>
          <p:cNvPr id="7" name="Shape 5"/>
          <p:cNvSpPr/>
          <p:nvPr/>
        </p:nvSpPr>
        <p:spPr>
          <a:xfrm>
            <a:off x="812800" y="2838450"/>
            <a:ext cx="5080000" cy="1206500"/>
          </a:xfrm>
          <a:custGeom>
            <a:avLst/>
            <a:gdLst/>
            <a:ahLst/>
            <a:cxnLst/>
            <a:rect l="l" t="t" r="r" b="b"/>
            <a:pathLst>
              <a:path w="5080000" h="1206500">
                <a:moveTo>
                  <a:pt x="101600" y="1206500"/>
                </a:moveTo>
                <a:lnTo>
                  <a:pt x="101600" y="1206500"/>
                </a:lnTo>
                <a:arcTo hR="101600" wR="101600" stAng="5400000" swAng="5400000"/>
                <a:lnTo>
                  <a:pt x="0" y="101600"/>
                </a:lnTo>
                <a:arcTo hR="101600" wR="101600" stAng="10800000" swAng="5400000"/>
                <a:lnTo>
                  <a:pt x="101600" y="0"/>
                </a:lnTo>
                <a:arcTo hR="101600" wR="50800" stAng="16200000" swAng="-5400000"/>
                <a:lnTo>
                  <a:pt x="50800" y="1104900"/>
                </a:lnTo>
                <a:arcTo hR="101600" wR="50800" stAng="10800000" swAng="-5400000"/>
                <a:close/>
              </a:path>
            </a:pathLst>
          </a:custGeom>
          <a:solidFill>
            <a:srgbClr val="F4A261"/>
          </a:solidFill>
          <a:ln/>
        </p:spPr>
      </p:sp>
      <p:sp>
        <p:nvSpPr>
          <p:cNvPr id="8" name="Text 6"/>
          <p:cNvSpPr/>
          <p:nvPr/>
        </p:nvSpPr>
        <p:spPr>
          <a:xfrm>
            <a:off x="6197600" y="17780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DM Sans" pitchFamily="34" charset="0"/>
                <a:ea typeface="DM Sans" pitchFamily="34" charset="-122"/>
                <a:cs typeface="DM Sans" pitchFamily="34" charset="-120"/>
              </a:rPr>
              <a:t>IT CAN</a:t>
            </a:r>
            <a:endParaRPr lang="en-US" sz="1200" dirty="0"/>
          </a:p>
        </p:txBody>
      </p:sp>
      <p:pic>
        <p:nvPicPr>
          <p:cNvPr id="9" name="Image 0" descr="Check">    </p:cNvPr>
          <p:cNvPicPr>
            <a:picLocks noChangeAspect="1"/>
          </p:cNvPicPr>
          <p:nvPr/>
        </p:nvPicPr>
        <p:blipFill>
          <a:blip r:embed="rId1"/>
          <a:srcRect l="0" r="0" t="0" b="0"/>
          <a:stretch/>
        </p:blipFill>
        <p:spPr>
          <a:xfrm>
            <a:off x="6197600" y="2143761"/>
            <a:ext cx="203200" cy="203200"/>
          </a:xfrm>
          <a:prstGeom prst="rect">
            <a:avLst/>
          </a:prstGeom>
        </p:spPr>
      </p:pic>
      <p:sp>
        <p:nvSpPr>
          <p:cNvPr id="10" name="Text 7"/>
          <p:cNvSpPr/>
          <p:nvPr/>
        </p:nvSpPr>
        <p:spPr>
          <a:xfrm>
            <a:off x="6527800" y="2143761"/>
            <a:ext cx="49969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CF5"/>
                </a:solidFill>
                <a:latin typeface="DM Sans" pitchFamily="34" charset="0"/>
                <a:ea typeface="DM Sans" pitchFamily="34" charset="-122"/>
                <a:cs typeface="DM Sans" pitchFamily="34" charset="-120"/>
              </a:rPr>
              <a:t>Answer questions about availability</a:t>
            </a:r>
            <a:endParaRPr lang="en-US" sz="1600" dirty="0"/>
          </a:p>
        </p:txBody>
      </p:sp>
      <p:pic>
        <p:nvPicPr>
          <p:cNvPr id="11" name="Image 1" descr="Check">    </p:cNvPr>
          <p:cNvPicPr>
            <a:picLocks noChangeAspect="1"/>
          </p:cNvPicPr>
          <p:nvPr/>
        </p:nvPicPr>
        <p:blipFill>
          <a:blip r:embed="rId2"/>
          <a:srcRect l="0" r="0" t="0" b="0"/>
          <a:stretch/>
        </p:blipFill>
        <p:spPr>
          <a:xfrm>
            <a:off x="6197600" y="2580639"/>
            <a:ext cx="203200" cy="203200"/>
          </a:xfrm>
          <a:prstGeom prst="rect">
            <a:avLst/>
          </a:prstGeom>
        </p:spPr>
      </p:pic>
      <p:sp>
        <p:nvSpPr>
          <p:cNvPr id="12" name="Text 8"/>
          <p:cNvSpPr/>
          <p:nvPr/>
        </p:nvSpPr>
        <p:spPr>
          <a:xfrm>
            <a:off x="6527800" y="2580639"/>
            <a:ext cx="49969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CF5"/>
                </a:solidFill>
                <a:latin typeface="DM Sans" pitchFamily="34" charset="0"/>
                <a:ea typeface="DM Sans" pitchFamily="34" charset="-122"/>
                <a:cs typeface="DM Sans" pitchFamily="34" charset="-120"/>
              </a:rPr>
              <a:t>Find open time slots</a:t>
            </a:r>
            <a:endParaRPr lang="en-US" sz="1600" dirty="0"/>
          </a:p>
        </p:txBody>
      </p:sp>
      <p:pic>
        <p:nvPicPr>
          <p:cNvPr id="13" name="Image 2" descr="Check">    </p:cNvPr>
          <p:cNvPicPr>
            <a:picLocks noChangeAspect="1"/>
          </p:cNvPicPr>
          <p:nvPr/>
        </p:nvPicPr>
        <p:blipFill>
          <a:blip r:embed="rId3"/>
          <a:srcRect l="0" r="0" t="0" b="0"/>
          <a:stretch/>
        </p:blipFill>
        <p:spPr>
          <a:xfrm>
            <a:off x="6197600" y="3017521"/>
            <a:ext cx="203200" cy="203200"/>
          </a:xfrm>
          <a:prstGeom prst="rect">
            <a:avLst/>
          </a:prstGeom>
        </p:spPr>
      </p:pic>
      <p:sp>
        <p:nvSpPr>
          <p:cNvPr id="14" name="Text 9"/>
          <p:cNvSpPr/>
          <p:nvPr/>
        </p:nvSpPr>
        <p:spPr>
          <a:xfrm>
            <a:off x="6527800" y="3017521"/>
            <a:ext cx="49969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CF5"/>
                </a:solidFill>
                <a:latin typeface="DM Sans" pitchFamily="34" charset="0"/>
                <a:ea typeface="DM Sans" pitchFamily="34" charset="-122"/>
                <a:cs typeface="DM Sans" pitchFamily="34" charset="-120"/>
              </a:rPr>
              <a:t>Create and reschedule events</a:t>
            </a:r>
            <a:endParaRPr lang="en-US" sz="1600" dirty="0"/>
          </a:p>
        </p:txBody>
      </p:sp>
      <p:pic>
        <p:nvPicPr>
          <p:cNvPr id="15" name="Image 3" descr="Check">    </p:cNvPr>
          <p:cNvPicPr>
            <a:picLocks noChangeAspect="1"/>
          </p:cNvPicPr>
          <p:nvPr/>
        </p:nvPicPr>
        <p:blipFill>
          <a:blip r:embed="rId4"/>
          <a:srcRect l="0" r="0" t="0" b="0"/>
          <a:stretch/>
        </p:blipFill>
        <p:spPr>
          <a:xfrm>
            <a:off x="6197600" y="3454400"/>
            <a:ext cx="203200" cy="203200"/>
          </a:xfrm>
          <a:prstGeom prst="rect">
            <a:avLst/>
          </a:prstGeom>
        </p:spPr>
      </p:pic>
      <p:sp>
        <p:nvSpPr>
          <p:cNvPr id="16" name="Text 10"/>
          <p:cNvSpPr/>
          <p:nvPr/>
        </p:nvSpPr>
        <p:spPr>
          <a:xfrm>
            <a:off x="6527800" y="3454400"/>
            <a:ext cx="4996942"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CF5"/>
                </a:solidFill>
                <a:latin typeface="DM Sans" pitchFamily="34" charset="0"/>
                <a:ea typeface="DM Sans" pitchFamily="34" charset="-122"/>
                <a:cs typeface="DM Sans" pitchFamily="34" charset="-120"/>
              </a:rPr>
              <a:t>Break a large assignment into smaller work sessions, scheduled around existing commitments with one click to approve</a:t>
            </a:r>
            <a:endParaRPr lang="en-US" sz="1600" dirty="0"/>
          </a:p>
        </p:txBody>
      </p:sp>
      <p:sp>
        <p:nvSpPr>
          <p:cNvPr id="17" name="Text 11"/>
          <p:cNvSpPr/>
          <p:nvPr/>
        </p:nvSpPr>
        <p:spPr>
          <a:xfrm>
            <a:off x="812800" y="6238239"/>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8"/>
                </a:solidFill>
                <a:latin typeface="DM Sans" pitchFamily="34" charset="0"/>
                <a:ea typeface="DM Sans" pitchFamily="34" charset="-122"/>
                <a:cs typeface="DM Sans" pitchFamily="34" charset="-120"/>
              </a:rPr>
              <a:t>Atlas</a:t>
            </a:r>
            <a:endParaRPr lang="en-US" sz="1200" dirty="0"/>
          </a:p>
        </p:txBody>
      </p:sp>
      <p:sp>
        <p:nvSpPr>
          <p:cNvPr id="18" name="Text 12"/>
          <p:cNvSpPr/>
          <p:nvPr/>
        </p:nvSpPr>
        <p:spPr>
          <a:xfrm>
            <a:off x="5492750" y="6238239"/>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8"/>
                </a:solidFill>
                <a:latin typeface="DM Sans" pitchFamily="34" charset="0"/>
                <a:ea typeface="DM Sans" pitchFamily="34" charset="-122"/>
                <a:cs typeface="DM Sans" pitchFamily="34" charset="-120"/>
              </a:rPr>
              <a:t>Smart features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0A"/>
                </a:solidFill>
                <a:latin typeface="DM Sans" pitchFamily="34" charset="0"/>
                <a:ea typeface="DM Sans" pitchFamily="34" charset="-122"/>
                <a:cs typeface="DM Sans" pitchFamily="34" charset="-120"/>
              </a:rPr>
              <a:t>SMART FEATURES: SCHEDULING</a:t>
            </a:r>
            <a:endParaRPr lang="en-US" sz="1200" dirty="0"/>
          </a:p>
        </p:txBody>
      </p:sp>
      <p:sp>
        <p:nvSpPr>
          <p:cNvPr id="3" name="Text 1"/>
          <p:cNvSpPr/>
          <p:nvPr>
            <p:ph type="title"/>
          </p:nvPr>
        </p:nvSpPr>
        <p:spPr>
          <a:xfrm>
            <a:off x="812800" y="1026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A"/>
                </a:solidFill>
                <a:latin typeface="DM Sans" pitchFamily="34" charset="0"/>
                <a:ea typeface="DM Sans" pitchFamily="34" charset="-122"/>
                <a:cs typeface="DM Sans" pitchFamily="34" charset="-120"/>
              </a:rPr>
              <a:t>Conflict handling by priority</a:t>
            </a:r>
            <a:endParaRPr lang="en-US" sz="3200" dirty="0"/>
          </a:p>
        </p:txBody>
      </p:sp>
      <p:sp>
        <p:nvSpPr>
          <p:cNvPr id="4" name="Text 2"/>
          <p:cNvSpPr/>
          <p:nvPr/>
        </p:nvSpPr>
        <p:spPr>
          <a:xfrm>
            <a:off x="812800" y="1778000"/>
            <a:ext cx="47353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6472"/>
                </a:solidFill>
                <a:latin typeface="DM Sans" pitchFamily="34" charset="0"/>
                <a:ea typeface="DM Sans" pitchFamily="34" charset="-122"/>
                <a:cs typeface="DM Sans" pitchFamily="34" charset="-120"/>
              </a:rPr>
              <a:t>TWO EVENTS OVERLAP</a:t>
            </a:r>
            <a:endParaRPr lang="en-US" sz="1200" dirty="0"/>
          </a:p>
        </p:txBody>
      </p:sp>
      <p:sp>
        <p:nvSpPr>
          <p:cNvPr id="5" name="Shape 3"/>
          <p:cNvSpPr/>
          <p:nvPr/>
        </p:nvSpPr>
        <p:spPr>
          <a:xfrm>
            <a:off x="815975" y="2121536"/>
            <a:ext cx="4591050" cy="969010"/>
          </a:xfrm>
          <a:prstGeom prst="roundRect">
            <a:avLst>
              <a:gd name="adj" fmla="val 10157"/>
            </a:avLst>
          </a:prstGeom>
          <a:solidFill>
            <a:srgbClr val="FBFAF6"/>
          </a:solidFill>
          <a:ln w="6350">
            <a:solidFill>
              <a:srgbClr val="E2DED3"/>
            </a:solidFill>
            <a:prstDash val="solid"/>
          </a:ln>
        </p:spPr>
      </p:sp>
      <p:sp>
        <p:nvSpPr>
          <p:cNvPr id="6" name="Text 4"/>
          <p:cNvSpPr/>
          <p:nvPr/>
        </p:nvSpPr>
        <p:spPr>
          <a:xfrm>
            <a:off x="996950" y="2302511"/>
            <a:ext cx="435597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33A"/>
                </a:solidFill>
                <a:latin typeface="DM Sans" pitchFamily="34" charset="0"/>
                <a:ea typeface="DM Sans" pitchFamily="34" charset="-122"/>
                <a:cs typeface="DM Sans" pitchFamily="34" charset="-120"/>
              </a:rPr>
              <a:t>Medical appointment</a:t>
            </a:r>
            <a:endParaRPr lang="en-US" sz="1800" dirty="0"/>
          </a:p>
        </p:txBody>
      </p:sp>
      <p:sp>
        <p:nvSpPr>
          <p:cNvPr id="7" name="Text 5"/>
          <p:cNvSpPr/>
          <p:nvPr/>
        </p:nvSpPr>
        <p:spPr>
          <a:xfrm>
            <a:off x="996950" y="2660650"/>
            <a:ext cx="435597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60A"/>
                </a:solidFill>
                <a:latin typeface="DM Sans" pitchFamily="34" charset="0"/>
                <a:ea typeface="DM Sans" pitchFamily="34" charset="-122"/>
                <a:cs typeface="DM Sans" pitchFamily="34" charset="-120"/>
              </a:rPr>
              <a:t>High priority</a:t>
            </a:r>
            <a:endParaRPr lang="en-US" sz="1400" dirty="0"/>
          </a:p>
        </p:txBody>
      </p:sp>
      <p:sp>
        <p:nvSpPr>
          <p:cNvPr id="8" name="Shape 6"/>
          <p:cNvSpPr/>
          <p:nvPr/>
        </p:nvSpPr>
        <p:spPr>
          <a:xfrm>
            <a:off x="815975" y="3223896"/>
            <a:ext cx="4591050" cy="969010"/>
          </a:xfrm>
          <a:prstGeom prst="roundRect">
            <a:avLst>
              <a:gd name="adj" fmla="val 10157"/>
            </a:avLst>
          </a:prstGeom>
          <a:solidFill>
            <a:srgbClr val="FBFAF6"/>
          </a:solidFill>
          <a:ln w="6350">
            <a:solidFill>
              <a:srgbClr val="E2DED3"/>
            </a:solidFill>
            <a:prstDash val="solid"/>
          </a:ln>
        </p:spPr>
      </p:sp>
      <p:sp>
        <p:nvSpPr>
          <p:cNvPr id="9" name="Text 7"/>
          <p:cNvSpPr/>
          <p:nvPr/>
        </p:nvSpPr>
        <p:spPr>
          <a:xfrm>
            <a:off x="996950" y="3404871"/>
            <a:ext cx="435597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33A"/>
                </a:solidFill>
                <a:latin typeface="DM Sans" pitchFamily="34" charset="0"/>
                <a:ea typeface="DM Sans" pitchFamily="34" charset="-122"/>
                <a:cs typeface="DM Sans" pitchFamily="34" charset="-120"/>
              </a:rPr>
              <a:t>Baseball game</a:t>
            </a:r>
            <a:endParaRPr lang="en-US" sz="1800" dirty="0"/>
          </a:p>
        </p:txBody>
      </p:sp>
      <p:sp>
        <p:nvSpPr>
          <p:cNvPr id="10" name="Text 8"/>
          <p:cNvSpPr/>
          <p:nvPr/>
        </p:nvSpPr>
        <p:spPr>
          <a:xfrm>
            <a:off x="996950" y="3763011"/>
            <a:ext cx="435597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472"/>
                </a:solidFill>
                <a:latin typeface="DM Sans" pitchFamily="34" charset="0"/>
                <a:ea typeface="DM Sans" pitchFamily="34" charset="-122"/>
                <a:cs typeface="DM Sans" pitchFamily="34" charset="-120"/>
              </a:rPr>
              <a:t>Lower priority</a:t>
            </a:r>
            <a:endParaRPr lang="en-US" sz="1400" dirty="0"/>
          </a:p>
        </p:txBody>
      </p:sp>
      <p:pic>
        <p:nvPicPr>
          <p:cNvPr id="11" name="Image 0" descr="arrow-right">    </p:cNvPr>
          <p:cNvPicPr>
            <a:picLocks noChangeAspect="1"/>
          </p:cNvPicPr>
          <p:nvPr/>
        </p:nvPicPr>
        <p:blipFill>
          <a:blip r:embed="rId1"/>
          <a:srcRect l="0" r="0" t="0" b="0"/>
          <a:stretch/>
        </p:blipFill>
        <p:spPr>
          <a:xfrm>
            <a:off x="5715000" y="2796539"/>
            <a:ext cx="762000" cy="381000"/>
          </a:xfrm>
          <a:prstGeom prst="rect">
            <a:avLst/>
          </a:prstGeom>
        </p:spPr>
      </p:pic>
      <p:sp>
        <p:nvSpPr>
          <p:cNvPr id="12" name="Text 9"/>
          <p:cNvSpPr/>
          <p:nvPr/>
        </p:nvSpPr>
        <p:spPr>
          <a:xfrm>
            <a:off x="6781800" y="1778000"/>
            <a:ext cx="47353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6472"/>
                </a:solidFill>
                <a:latin typeface="DM Sans" pitchFamily="34" charset="0"/>
                <a:ea typeface="DM Sans" pitchFamily="34" charset="-122"/>
                <a:cs typeface="DM Sans" pitchFamily="34" charset="-120"/>
              </a:rPr>
              <a:t>ATLAS RESOLVES IT</a:t>
            </a:r>
            <a:endParaRPr lang="en-US" sz="1200" dirty="0"/>
          </a:p>
        </p:txBody>
      </p:sp>
      <p:sp>
        <p:nvSpPr>
          <p:cNvPr id="13" name="Shape 10"/>
          <p:cNvSpPr/>
          <p:nvPr/>
        </p:nvSpPr>
        <p:spPr>
          <a:xfrm>
            <a:off x="6781800" y="2118361"/>
            <a:ext cx="4597400" cy="962660"/>
          </a:xfrm>
          <a:prstGeom prst="roundRect">
            <a:avLst>
              <a:gd name="adj" fmla="val 10554"/>
            </a:avLst>
          </a:prstGeom>
          <a:solidFill>
            <a:srgbClr val="16233A"/>
          </a:solidFill>
          <a:ln/>
        </p:spPr>
      </p:sp>
      <p:sp>
        <p:nvSpPr>
          <p:cNvPr id="14" name="Text 11"/>
          <p:cNvSpPr/>
          <p:nvPr/>
        </p:nvSpPr>
        <p:spPr>
          <a:xfrm>
            <a:off x="6959600" y="2296161"/>
            <a:ext cx="4369054"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4EE"/>
                </a:solidFill>
                <a:latin typeface="DM Sans" pitchFamily="34" charset="0"/>
                <a:ea typeface="DM Sans" pitchFamily="34" charset="-122"/>
                <a:cs typeface="DM Sans" pitchFamily="34" charset="-120"/>
              </a:rPr>
              <a:t>Medical appointment</a:t>
            </a:r>
            <a:endParaRPr lang="en-US" sz="1800" dirty="0"/>
          </a:p>
        </p:txBody>
      </p:sp>
      <p:sp>
        <p:nvSpPr>
          <p:cNvPr id="15" name="Text 12"/>
          <p:cNvSpPr/>
          <p:nvPr/>
        </p:nvSpPr>
        <p:spPr>
          <a:xfrm>
            <a:off x="6959600" y="2654300"/>
            <a:ext cx="43690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A261"/>
                </a:solidFill>
                <a:latin typeface="DM Sans" pitchFamily="34" charset="0"/>
                <a:ea typeface="DM Sans" pitchFamily="34" charset="-122"/>
                <a:cs typeface="DM Sans" pitchFamily="34" charset="-120"/>
              </a:rPr>
              <a:t>Stays on the calendar</a:t>
            </a:r>
            <a:endParaRPr lang="en-US" sz="1400" dirty="0"/>
          </a:p>
        </p:txBody>
      </p:sp>
      <p:sp>
        <p:nvSpPr>
          <p:cNvPr id="16" name="Shape 13"/>
          <p:cNvSpPr/>
          <p:nvPr/>
        </p:nvSpPr>
        <p:spPr>
          <a:xfrm>
            <a:off x="6788150" y="3214371"/>
            <a:ext cx="4584700" cy="975360"/>
          </a:xfrm>
          <a:prstGeom prst="roundRect">
            <a:avLst>
              <a:gd name="adj" fmla="val 9766"/>
            </a:avLst>
          </a:prstGeom>
          <a:noFill/>
          <a:ln w="12700">
            <a:solidFill>
              <a:srgbClr val="5B6472"/>
            </a:solidFill>
            <a:prstDash val="dash"/>
          </a:ln>
        </p:spPr>
      </p:sp>
      <p:sp>
        <p:nvSpPr>
          <p:cNvPr id="17" name="Text 14"/>
          <p:cNvSpPr/>
          <p:nvPr/>
        </p:nvSpPr>
        <p:spPr>
          <a:xfrm>
            <a:off x="6972300" y="3398521"/>
            <a:ext cx="43428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33A"/>
                </a:solidFill>
                <a:latin typeface="DM Sans" pitchFamily="34" charset="0"/>
                <a:ea typeface="DM Sans" pitchFamily="34" charset="-122"/>
                <a:cs typeface="DM Sans" pitchFamily="34" charset="-120"/>
              </a:rPr>
              <a:t>Baseball game</a:t>
            </a:r>
            <a:endParaRPr lang="en-US" sz="1800" dirty="0"/>
          </a:p>
        </p:txBody>
      </p:sp>
      <p:sp>
        <p:nvSpPr>
          <p:cNvPr id="18" name="Text 15"/>
          <p:cNvSpPr/>
          <p:nvPr/>
        </p:nvSpPr>
        <p:spPr>
          <a:xfrm>
            <a:off x="6972300" y="3756661"/>
            <a:ext cx="43428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Moves to another time</a:t>
            </a:r>
            <a:endParaRPr lang="en-US" sz="1400" dirty="0"/>
          </a:p>
        </p:txBody>
      </p:sp>
      <p:sp>
        <p:nvSpPr>
          <p:cNvPr id="19" name="Text 16"/>
          <p:cNvSpPr/>
          <p:nvPr/>
        </p:nvSpPr>
        <p:spPr>
          <a:xfrm>
            <a:off x="812800" y="4500879"/>
            <a:ext cx="9810750" cy="6197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6233A"/>
                </a:solidFill>
                <a:latin typeface="DM Sans" pitchFamily="34" charset="0"/>
                <a:ea typeface="DM Sans" pitchFamily="34" charset="-122"/>
                <a:cs typeface="DM Sans" pitchFamily="34" charset="-120"/>
              </a:rPr>
              <a:t>The goal is for Atlas to detect overlapping events on its own and use priority and importance to decide what shifts.</a:t>
            </a:r>
            <a:endParaRPr lang="en-US" sz="1800" dirty="0"/>
          </a:p>
        </p:txBody>
      </p:sp>
      <p:sp>
        <p:nvSpPr>
          <p:cNvPr id="20" name="Text 17"/>
          <p:cNvSpPr/>
          <p:nvPr/>
        </p:nvSpPr>
        <p:spPr>
          <a:xfrm>
            <a:off x="812800" y="6238239"/>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Atlas</a:t>
            </a:r>
            <a:endParaRPr lang="en-US" sz="1200" dirty="0"/>
          </a:p>
        </p:txBody>
      </p:sp>
      <p:sp>
        <p:nvSpPr>
          <p:cNvPr id="21" name="Text 18"/>
          <p:cNvSpPr/>
          <p:nvPr/>
        </p:nvSpPr>
        <p:spPr>
          <a:xfrm>
            <a:off x="5492750" y="6238239"/>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Smart features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0A"/>
                </a:solidFill>
                <a:latin typeface="DM Sans" pitchFamily="34" charset="0"/>
                <a:ea typeface="DM Sans" pitchFamily="34" charset="-122"/>
                <a:cs typeface="DM Sans" pitchFamily="34" charset="-120"/>
              </a:rPr>
              <a:t>THE SKETCH</a:t>
            </a:r>
            <a:endParaRPr lang="en-US" sz="1200" dirty="0"/>
          </a:p>
        </p:txBody>
      </p:sp>
      <p:sp>
        <p:nvSpPr>
          <p:cNvPr id="3" name="Text 1"/>
          <p:cNvSpPr/>
          <p:nvPr>
            <p:ph type="title"/>
          </p:nvPr>
        </p:nvSpPr>
        <p:spPr>
          <a:xfrm>
            <a:off x="812800" y="9245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A"/>
                </a:solidFill>
                <a:latin typeface="DM Sans" pitchFamily="34" charset="0"/>
                <a:ea typeface="DM Sans" pitchFamily="34" charset="-122"/>
                <a:cs typeface="DM Sans" pitchFamily="34" charset="-120"/>
              </a:rPr>
              <a:t>System overview</a:t>
            </a:r>
            <a:endParaRPr lang="en-US" sz="3200" dirty="0"/>
          </a:p>
        </p:txBody>
      </p:sp>
      <p:sp>
        <p:nvSpPr>
          <p:cNvPr id="4" name="Shape 2"/>
          <p:cNvSpPr/>
          <p:nvPr/>
        </p:nvSpPr>
        <p:spPr>
          <a:xfrm>
            <a:off x="1758950" y="1524000"/>
            <a:ext cx="8674100" cy="4318000"/>
          </a:xfrm>
          <a:prstGeom prst="roundRect">
            <a:avLst>
              <a:gd name="adj" fmla="val 2353"/>
            </a:avLst>
          </a:prstGeom>
          <a:solidFill>
            <a:srgbClr val="FFFFFF"/>
          </a:solidFill>
          <a:ln/>
        </p:spPr>
      </p:sp>
      <p:pic>
        <p:nvPicPr>
          <p:cNvPr id="5" name="Image 0" descr="Hand-drawn Atlas system overview: a Next.js app on Vercel holding the React frontend and the Next.js backend API, connected to self-hosted Ollama AI engines, calendar APIs, a PostgreSQL database, and email or SMS notifications">    </p:cNvPr>
          <p:cNvPicPr>
            <a:picLocks noChangeAspect="1"/>
          </p:cNvPicPr>
          <p:nvPr/>
        </p:nvPicPr>
        <p:blipFill>
          <a:blip r:embed="rId1"/>
          <a:srcRect l="-78" r="-78" t="0" b="0"/>
          <a:stretch/>
        </p:blipFill>
        <p:spPr>
          <a:xfrm>
            <a:off x="1765300" y="1530350"/>
            <a:ext cx="8661400" cy="4305300"/>
          </a:xfrm>
          <a:prstGeom prst="roundRect">
            <a:avLst>
              <a:gd name="adj" fmla="val 2212"/>
            </a:avLst>
          </a:prstGeom>
        </p:spPr>
      </p:pic>
      <p:sp>
        <p:nvSpPr>
          <p:cNvPr id="6" name="Shape 3"/>
          <p:cNvSpPr/>
          <p:nvPr/>
        </p:nvSpPr>
        <p:spPr>
          <a:xfrm>
            <a:off x="1762125" y="1527175"/>
            <a:ext cx="8667750" cy="4311650"/>
          </a:xfrm>
          <a:prstGeom prst="roundRect">
            <a:avLst>
              <a:gd name="adj" fmla="val 2283"/>
            </a:avLst>
          </a:prstGeom>
          <a:noFill/>
          <a:ln w="6350">
            <a:solidFill>
              <a:srgbClr val="E2DED3"/>
            </a:solidFill>
            <a:prstDash val="solid"/>
          </a:ln>
        </p:spPr>
      </p:sp>
      <p:sp>
        <p:nvSpPr>
          <p:cNvPr id="7" name="Text 4"/>
          <p:cNvSpPr/>
          <p:nvPr/>
        </p:nvSpPr>
        <p:spPr>
          <a:xfrm>
            <a:off x="812800" y="6238239"/>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Atlas</a:t>
            </a:r>
            <a:endParaRPr lang="en-US" sz="1200" dirty="0"/>
          </a:p>
        </p:txBody>
      </p:sp>
      <p:sp>
        <p:nvSpPr>
          <p:cNvPr id="8" name="Text 5"/>
          <p:cNvSpPr/>
          <p:nvPr/>
        </p:nvSpPr>
        <p:spPr>
          <a:xfrm>
            <a:off x="5492750" y="6238239"/>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The sketch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0A"/>
                </a:solidFill>
                <a:latin typeface="DM Sans" pitchFamily="34" charset="0"/>
                <a:ea typeface="DM Sans" pitchFamily="34" charset="-122"/>
                <a:cs typeface="DM Sans" pitchFamily="34" charset="-120"/>
              </a:rPr>
              <a:t>THE SKETCH</a:t>
            </a:r>
            <a:endParaRPr lang="en-US" sz="1200" dirty="0"/>
          </a:p>
        </p:txBody>
      </p:sp>
      <p:sp>
        <p:nvSpPr>
          <p:cNvPr id="3" name="Text 1"/>
          <p:cNvSpPr/>
          <p:nvPr>
            <p:ph type="title"/>
          </p:nvPr>
        </p:nvSpPr>
        <p:spPr>
          <a:xfrm>
            <a:off x="812800" y="1026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A"/>
                </a:solidFill>
                <a:latin typeface="DM Sans" pitchFamily="34" charset="0"/>
                <a:ea typeface="DM Sans" pitchFamily="34" charset="-122"/>
                <a:cs typeface="DM Sans" pitchFamily="34" charset="-120"/>
              </a:rPr>
              <a:t>System components</a:t>
            </a:r>
            <a:endParaRPr lang="en-US" sz="3200" dirty="0"/>
          </a:p>
        </p:txBody>
      </p:sp>
      <p:sp>
        <p:nvSpPr>
          <p:cNvPr id="4" name="Shape 2"/>
          <p:cNvSpPr/>
          <p:nvPr/>
        </p:nvSpPr>
        <p:spPr>
          <a:xfrm>
            <a:off x="815975" y="1730375"/>
            <a:ext cx="3380317" cy="1507490"/>
          </a:xfrm>
          <a:prstGeom prst="roundRect">
            <a:avLst>
              <a:gd name="adj" fmla="val 6529"/>
            </a:avLst>
          </a:prstGeom>
          <a:solidFill>
            <a:srgbClr val="FBFAF6"/>
          </a:solidFill>
          <a:ln w="6350">
            <a:solidFill>
              <a:srgbClr val="E2DED3"/>
            </a:solidFill>
            <a:prstDash val="solid"/>
          </a:ln>
        </p:spPr>
      </p:sp>
      <p:sp>
        <p:nvSpPr>
          <p:cNvPr id="5" name="Text 3"/>
          <p:cNvSpPr/>
          <p:nvPr/>
        </p:nvSpPr>
        <p:spPr>
          <a:xfrm>
            <a:off x="1047750" y="1962150"/>
            <a:ext cx="30042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Frontend</a:t>
            </a:r>
            <a:endParaRPr lang="en-US" sz="1800" dirty="0"/>
          </a:p>
        </p:txBody>
      </p:sp>
      <p:sp>
        <p:nvSpPr>
          <p:cNvPr id="6" name="Text 4"/>
          <p:cNvSpPr/>
          <p:nvPr/>
        </p:nvSpPr>
        <p:spPr>
          <a:xfrm>
            <a:off x="1047750" y="2312671"/>
            <a:ext cx="300427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React, Tailwind CSS, and shadcn/ui for the calendar view, task pages, and AI sidebar.</a:t>
            </a:r>
            <a:endParaRPr lang="en-US" sz="1300" dirty="0"/>
          </a:p>
        </p:txBody>
      </p:sp>
      <p:sp>
        <p:nvSpPr>
          <p:cNvPr id="7" name="Shape 5"/>
          <p:cNvSpPr/>
          <p:nvPr/>
        </p:nvSpPr>
        <p:spPr>
          <a:xfrm>
            <a:off x="4405842" y="1730375"/>
            <a:ext cx="3380317" cy="1507490"/>
          </a:xfrm>
          <a:prstGeom prst="roundRect">
            <a:avLst>
              <a:gd name="adj" fmla="val 6529"/>
            </a:avLst>
          </a:prstGeom>
          <a:solidFill>
            <a:srgbClr val="FBFAF6"/>
          </a:solidFill>
          <a:ln w="6350">
            <a:solidFill>
              <a:srgbClr val="E2DED3"/>
            </a:solidFill>
            <a:prstDash val="solid"/>
          </a:ln>
        </p:spPr>
      </p:sp>
      <p:sp>
        <p:nvSpPr>
          <p:cNvPr id="8" name="Text 6"/>
          <p:cNvSpPr/>
          <p:nvPr/>
        </p:nvSpPr>
        <p:spPr>
          <a:xfrm>
            <a:off x="4637617" y="1962150"/>
            <a:ext cx="30042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Backend</a:t>
            </a:r>
            <a:endParaRPr lang="en-US" sz="1800" dirty="0"/>
          </a:p>
        </p:txBody>
      </p:sp>
      <p:sp>
        <p:nvSpPr>
          <p:cNvPr id="9" name="Text 7"/>
          <p:cNvSpPr/>
          <p:nvPr/>
        </p:nvSpPr>
        <p:spPr>
          <a:xfrm>
            <a:off x="4637617" y="2312671"/>
            <a:ext cx="300427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Next.js API routes and server actions on Vercel. Auth.js handles OAuth 2.0 sign-in.</a:t>
            </a:r>
            <a:endParaRPr lang="en-US" sz="1300" dirty="0"/>
          </a:p>
        </p:txBody>
      </p:sp>
      <p:sp>
        <p:nvSpPr>
          <p:cNvPr id="10" name="Shape 8"/>
          <p:cNvSpPr/>
          <p:nvPr/>
        </p:nvSpPr>
        <p:spPr>
          <a:xfrm>
            <a:off x="7995708" y="1730375"/>
            <a:ext cx="3380317" cy="1507490"/>
          </a:xfrm>
          <a:prstGeom prst="roundRect">
            <a:avLst>
              <a:gd name="adj" fmla="val 6529"/>
            </a:avLst>
          </a:prstGeom>
          <a:solidFill>
            <a:srgbClr val="FBFAF6"/>
          </a:solidFill>
          <a:ln w="6350">
            <a:solidFill>
              <a:srgbClr val="E2DED3"/>
            </a:solidFill>
            <a:prstDash val="solid"/>
          </a:ln>
        </p:spPr>
      </p:sp>
      <p:sp>
        <p:nvSpPr>
          <p:cNvPr id="11" name="Text 9"/>
          <p:cNvSpPr/>
          <p:nvPr/>
        </p:nvSpPr>
        <p:spPr>
          <a:xfrm>
            <a:off x="8227483" y="1962150"/>
            <a:ext cx="30042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Calendar sync</a:t>
            </a:r>
            <a:endParaRPr lang="en-US" sz="1800" dirty="0"/>
          </a:p>
        </p:txBody>
      </p:sp>
      <p:sp>
        <p:nvSpPr>
          <p:cNvPr id="12" name="Text 10"/>
          <p:cNvSpPr/>
          <p:nvPr/>
        </p:nvSpPr>
        <p:spPr>
          <a:xfrm>
            <a:off x="8227483" y="2312671"/>
            <a:ext cx="300427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Google Calendar, Microsoft Graph, the Canvas API, and CalDAV pull in events and keep them current.</a:t>
            </a:r>
            <a:endParaRPr lang="en-US" sz="1300" dirty="0"/>
          </a:p>
        </p:txBody>
      </p:sp>
      <p:sp>
        <p:nvSpPr>
          <p:cNvPr id="13" name="Shape 11"/>
          <p:cNvSpPr/>
          <p:nvPr/>
        </p:nvSpPr>
        <p:spPr>
          <a:xfrm>
            <a:off x="815975" y="3447414"/>
            <a:ext cx="3380317" cy="1507490"/>
          </a:xfrm>
          <a:prstGeom prst="roundRect">
            <a:avLst>
              <a:gd name="adj" fmla="val 6529"/>
            </a:avLst>
          </a:prstGeom>
          <a:solidFill>
            <a:srgbClr val="FBFAF6"/>
          </a:solidFill>
          <a:ln w="6350">
            <a:solidFill>
              <a:srgbClr val="E2DED3"/>
            </a:solidFill>
            <a:prstDash val="solid"/>
          </a:ln>
        </p:spPr>
      </p:sp>
      <p:sp>
        <p:nvSpPr>
          <p:cNvPr id="14" name="Text 12"/>
          <p:cNvSpPr/>
          <p:nvPr/>
        </p:nvSpPr>
        <p:spPr>
          <a:xfrm>
            <a:off x="1047750" y="3679189"/>
            <a:ext cx="30042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Database</a:t>
            </a:r>
            <a:endParaRPr lang="en-US" sz="1800" dirty="0"/>
          </a:p>
        </p:txBody>
      </p:sp>
      <p:sp>
        <p:nvSpPr>
          <p:cNvPr id="15" name="Text 13"/>
          <p:cNvSpPr/>
          <p:nvPr/>
        </p:nvSpPr>
        <p:spPr>
          <a:xfrm>
            <a:off x="1047750" y="4029708"/>
            <a:ext cx="300427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PostgreSQL on Neon or Supabase, read and written by the backend.</a:t>
            </a:r>
            <a:endParaRPr lang="en-US" sz="1300" dirty="0"/>
          </a:p>
        </p:txBody>
      </p:sp>
      <p:sp>
        <p:nvSpPr>
          <p:cNvPr id="16" name="Shape 14"/>
          <p:cNvSpPr/>
          <p:nvPr/>
        </p:nvSpPr>
        <p:spPr>
          <a:xfrm>
            <a:off x="4405842" y="3447414"/>
            <a:ext cx="3380317" cy="1507490"/>
          </a:xfrm>
          <a:prstGeom prst="roundRect">
            <a:avLst>
              <a:gd name="adj" fmla="val 6529"/>
            </a:avLst>
          </a:prstGeom>
          <a:solidFill>
            <a:srgbClr val="FBFAF6"/>
          </a:solidFill>
          <a:ln w="6350">
            <a:solidFill>
              <a:srgbClr val="E2DED3"/>
            </a:solidFill>
            <a:prstDash val="solid"/>
          </a:ln>
        </p:spPr>
      </p:sp>
      <p:sp>
        <p:nvSpPr>
          <p:cNvPr id="17" name="Text 15"/>
          <p:cNvSpPr/>
          <p:nvPr/>
        </p:nvSpPr>
        <p:spPr>
          <a:xfrm>
            <a:off x="4637617" y="3679189"/>
            <a:ext cx="30042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AI engine</a:t>
            </a:r>
            <a:endParaRPr lang="en-US" sz="1800" dirty="0"/>
          </a:p>
        </p:txBody>
      </p:sp>
      <p:sp>
        <p:nvSpPr>
          <p:cNvPr id="18" name="Text 16"/>
          <p:cNvSpPr/>
          <p:nvPr/>
        </p:nvSpPr>
        <p:spPr>
          <a:xfrm>
            <a:off x="4637617" y="4029708"/>
            <a:ext cx="300427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Self-hosted Ollama running Llama or Qwen. The backend sends only the relevant part of the schedule.</a:t>
            </a:r>
            <a:endParaRPr lang="en-US" sz="1300" dirty="0"/>
          </a:p>
        </p:txBody>
      </p:sp>
      <p:sp>
        <p:nvSpPr>
          <p:cNvPr id="19" name="Shape 17"/>
          <p:cNvSpPr/>
          <p:nvPr/>
        </p:nvSpPr>
        <p:spPr>
          <a:xfrm>
            <a:off x="7995708" y="3447414"/>
            <a:ext cx="3380317" cy="1507490"/>
          </a:xfrm>
          <a:prstGeom prst="roundRect">
            <a:avLst>
              <a:gd name="adj" fmla="val 6529"/>
            </a:avLst>
          </a:prstGeom>
          <a:solidFill>
            <a:srgbClr val="FBFAF6"/>
          </a:solidFill>
          <a:ln w="6350">
            <a:solidFill>
              <a:srgbClr val="E2DED3"/>
            </a:solidFill>
            <a:prstDash val="solid"/>
          </a:ln>
        </p:spPr>
      </p:sp>
      <p:sp>
        <p:nvSpPr>
          <p:cNvPr id="20" name="Text 18"/>
          <p:cNvSpPr/>
          <p:nvPr/>
        </p:nvSpPr>
        <p:spPr>
          <a:xfrm>
            <a:off x="8227483" y="3679189"/>
            <a:ext cx="30042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A"/>
                </a:solidFill>
                <a:latin typeface="DM Sans" pitchFamily="34" charset="0"/>
                <a:ea typeface="DM Sans" pitchFamily="34" charset="-122"/>
                <a:cs typeface="DM Sans" pitchFamily="34" charset="-120"/>
              </a:rPr>
              <a:t>Notifications</a:t>
            </a:r>
            <a:endParaRPr lang="en-US" sz="1800" dirty="0"/>
          </a:p>
        </p:txBody>
      </p:sp>
      <p:sp>
        <p:nvSpPr>
          <p:cNvPr id="21" name="Text 19"/>
          <p:cNvSpPr/>
          <p:nvPr/>
        </p:nvSpPr>
        <p:spPr>
          <a:xfrm>
            <a:off x="8227483" y="4029708"/>
            <a:ext cx="300427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Resend email for reminders and deadline warnings, with optional SMS.</a:t>
            </a:r>
            <a:endParaRPr lang="en-US" sz="1300" dirty="0"/>
          </a:p>
        </p:txBody>
      </p:sp>
      <p:sp>
        <p:nvSpPr>
          <p:cNvPr id="22" name="Text 20"/>
          <p:cNvSpPr/>
          <p:nvPr/>
        </p:nvSpPr>
        <p:spPr>
          <a:xfrm>
            <a:off x="812800" y="6238242"/>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Atlas</a:t>
            </a:r>
            <a:endParaRPr lang="en-US" sz="1200" dirty="0"/>
          </a:p>
        </p:txBody>
      </p:sp>
      <p:sp>
        <p:nvSpPr>
          <p:cNvPr id="23" name="Text 21"/>
          <p:cNvSpPr/>
          <p:nvPr/>
        </p:nvSpPr>
        <p:spPr>
          <a:xfrm>
            <a:off x="5492750" y="6238242"/>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The sketch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33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DM Sans" pitchFamily="34" charset="0"/>
                <a:ea typeface="DM Sans" pitchFamily="34" charset="-122"/>
                <a:cs typeface="DM Sans" pitchFamily="34" charset="-120"/>
              </a:rPr>
              <a:t>VALUE TO USERS</a:t>
            </a:r>
            <a:endParaRPr lang="en-US" sz="1200" dirty="0"/>
          </a:p>
        </p:txBody>
      </p:sp>
      <p:sp>
        <p:nvSpPr>
          <p:cNvPr id="3" name="Text 1"/>
          <p:cNvSpPr/>
          <p:nvPr>
            <p:ph type="title"/>
          </p:nvPr>
        </p:nvSpPr>
        <p:spPr>
          <a:xfrm>
            <a:off x="812800" y="10261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DM Sans" pitchFamily="34" charset="0"/>
                <a:ea typeface="DM Sans" pitchFamily="34" charset="-122"/>
                <a:cs typeface="DM Sans" pitchFamily="34" charset="-120"/>
              </a:rPr>
              <a:t>Time saved and less stress</a:t>
            </a:r>
            <a:endParaRPr lang="en-US" sz="3200" dirty="0"/>
          </a:p>
        </p:txBody>
      </p:sp>
      <p:sp>
        <p:nvSpPr>
          <p:cNvPr id="4" name="Text 2"/>
          <p:cNvSpPr/>
          <p:nvPr/>
        </p:nvSpPr>
        <p:spPr>
          <a:xfrm>
            <a:off x="812800" y="1778000"/>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5D0E0"/>
                </a:solidFill>
                <a:latin typeface="DM Sans" pitchFamily="34" charset="0"/>
                <a:ea typeface="DM Sans" pitchFamily="34" charset="-122"/>
                <a:cs typeface="DM Sans" pitchFamily="34" charset="-120"/>
              </a:rPr>
              <a:t>Built for students and working professionals balancing a busy schedule.</a:t>
            </a:r>
            <a:endParaRPr lang="en-US" sz="1800" dirty="0"/>
          </a:p>
        </p:txBody>
      </p:sp>
      <p:sp>
        <p:nvSpPr>
          <p:cNvPr id="5" name="Shape 3"/>
          <p:cNvSpPr/>
          <p:nvPr/>
        </p:nvSpPr>
        <p:spPr>
          <a:xfrm>
            <a:off x="812800" y="2379979"/>
            <a:ext cx="3386667" cy="2387600"/>
          </a:xfrm>
          <a:prstGeom prst="roundRect">
            <a:avLst>
              <a:gd name="adj" fmla="val 5319"/>
            </a:avLst>
          </a:prstGeom>
          <a:solidFill>
            <a:srgbClr val="22324D"/>
          </a:solidFill>
          <a:ln/>
        </p:spPr>
      </p:sp>
      <p:pic>
        <p:nvPicPr>
          <p:cNvPr id="6" name="Image 0" descr="Chart">    </p:cNvPr>
          <p:cNvPicPr>
            <a:picLocks noChangeAspect="1"/>
          </p:cNvPicPr>
          <p:nvPr/>
        </p:nvPicPr>
        <p:blipFill>
          <a:blip r:embed="rId1"/>
          <a:srcRect l="0" r="0" t="0" b="0"/>
          <a:stretch/>
        </p:blipFill>
        <p:spPr>
          <a:xfrm>
            <a:off x="1066800" y="2633979"/>
            <a:ext cx="406400" cy="406400"/>
          </a:xfrm>
          <a:prstGeom prst="rect">
            <a:avLst/>
          </a:prstGeom>
        </p:spPr>
      </p:pic>
      <p:sp>
        <p:nvSpPr>
          <p:cNvPr id="7" name="Text 4"/>
          <p:cNvSpPr/>
          <p:nvPr/>
        </p:nvSpPr>
        <p:spPr>
          <a:xfrm>
            <a:off x="1066800" y="3141979"/>
            <a:ext cx="296502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DM Sans" pitchFamily="34" charset="0"/>
                <a:ea typeface="DM Sans" pitchFamily="34" charset="-122"/>
                <a:cs typeface="DM Sans" pitchFamily="34" charset="-120"/>
              </a:rPr>
              <a:t>One unified view</a:t>
            </a:r>
            <a:endParaRPr lang="en-US" sz="1800" dirty="0"/>
          </a:p>
        </p:txBody>
      </p:sp>
      <p:sp>
        <p:nvSpPr>
          <p:cNvPr id="8" name="Text 5"/>
          <p:cNvSpPr/>
          <p:nvPr/>
        </p:nvSpPr>
        <p:spPr>
          <a:xfrm>
            <a:off x="1066800" y="3517900"/>
            <a:ext cx="296502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5"/>
                </a:solidFill>
                <a:latin typeface="DM Sans" pitchFamily="34" charset="0"/>
                <a:ea typeface="DM Sans" pitchFamily="34" charset="-122"/>
                <a:cs typeface="DM Sans" pitchFamily="34" charset="-120"/>
              </a:rPr>
              <a:t>Classes, meetings, assignments, and personal events together, color-coded by where each came from.</a:t>
            </a:r>
            <a:endParaRPr lang="en-US" sz="1400" dirty="0"/>
          </a:p>
        </p:txBody>
      </p:sp>
      <p:sp>
        <p:nvSpPr>
          <p:cNvPr id="9" name="Shape 6"/>
          <p:cNvSpPr/>
          <p:nvPr/>
        </p:nvSpPr>
        <p:spPr>
          <a:xfrm>
            <a:off x="4402667" y="2379979"/>
            <a:ext cx="3386667" cy="2387600"/>
          </a:xfrm>
          <a:prstGeom prst="roundRect">
            <a:avLst>
              <a:gd name="adj" fmla="val 5319"/>
            </a:avLst>
          </a:prstGeom>
          <a:solidFill>
            <a:srgbClr val="22324D"/>
          </a:solidFill>
          <a:ln/>
        </p:spPr>
      </p:sp>
      <p:pic>
        <p:nvPicPr>
          <p:cNvPr id="10" name="Image 1" descr="Lightbulb">    </p:cNvPr>
          <p:cNvPicPr>
            <a:picLocks noChangeAspect="1"/>
          </p:cNvPicPr>
          <p:nvPr/>
        </p:nvPicPr>
        <p:blipFill>
          <a:blip r:embed="rId2"/>
          <a:srcRect l="0" r="0" t="0" b="0"/>
          <a:stretch/>
        </p:blipFill>
        <p:spPr>
          <a:xfrm>
            <a:off x="4656667" y="2633979"/>
            <a:ext cx="406400" cy="406400"/>
          </a:xfrm>
          <a:prstGeom prst="rect">
            <a:avLst/>
          </a:prstGeom>
        </p:spPr>
      </p:pic>
      <p:sp>
        <p:nvSpPr>
          <p:cNvPr id="11" name="Text 7"/>
          <p:cNvSpPr/>
          <p:nvPr/>
        </p:nvSpPr>
        <p:spPr>
          <a:xfrm>
            <a:off x="4656667" y="3141979"/>
            <a:ext cx="296502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DM Sans" pitchFamily="34" charset="0"/>
                <a:ea typeface="DM Sans" pitchFamily="34" charset="-122"/>
                <a:cs typeface="DM Sans" pitchFamily="34" charset="-120"/>
              </a:rPr>
              <a:t>Active planning</a:t>
            </a:r>
            <a:endParaRPr lang="en-US" sz="1800" dirty="0"/>
          </a:p>
        </p:txBody>
      </p:sp>
      <p:sp>
        <p:nvSpPr>
          <p:cNvPr id="12" name="Text 8"/>
          <p:cNvSpPr/>
          <p:nvPr/>
        </p:nvSpPr>
        <p:spPr>
          <a:xfrm>
            <a:off x="4656667" y="3517900"/>
            <a:ext cx="296502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5"/>
                </a:solidFill>
                <a:latin typeface="DM Sans" pitchFamily="34" charset="0"/>
                <a:ea typeface="DM Sans" pitchFamily="34" charset="-122"/>
                <a:cs typeface="DM Sans" pitchFamily="34" charset="-120"/>
              </a:rPr>
              <a:t>Atlas finds open slots, breaks big work into sessions, and schedules them around existing commitments with one click.</a:t>
            </a:r>
            <a:endParaRPr lang="en-US" sz="1400" dirty="0"/>
          </a:p>
        </p:txBody>
      </p:sp>
      <p:sp>
        <p:nvSpPr>
          <p:cNvPr id="13" name="Shape 9"/>
          <p:cNvSpPr/>
          <p:nvPr/>
        </p:nvSpPr>
        <p:spPr>
          <a:xfrm>
            <a:off x="7992533" y="2379979"/>
            <a:ext cx="3386667" cy="2387600"/>
          </a:xfrm>
          <a:prstGeom prst="roundRect">
            <a:avLst>
              <a:gd name="adj" fmla="val 5319"/>
            </a:avLst>
          </a:prstGeom>
          <a:solidFill>
            <a:srgbClr val="22324D"/>
          </a:solidFill>
          <a:ln/>
        </p:spPr>
      </p:sp>
      <p:pic>
        <p:nvPicPr>
          <p:cNvPr id="14" name="Image 2" descr="PaperPlane">    </p:cNvPr>
          <p:cNvPicPr>
            <a:picLocks noChangeAspect="1"/>
          </p:cNvPicPr>
          <p:nvPr/>
        </p:nvPicPr>
        <p:blipFill>
          <a:blip r:embed="rId3"/>
          <a:srcRect l="0" r="0" t="0" b="0"/>
          <a:stretch/>
        </p:blipFill>
        <p:spPr>
          <a:xfrm>
            <a:off x="8246533" y="2633979"/>
            <a:ext cx="406400" cy="406400"/>
          </a:xfrm>
          <a:prstGeom prst="rect">
            <a:avLst/>
          </a:prstGeom>
        </p:spPr>
      </p:pic>
      <p:sp>
        <p:nvSpPr>
          <p:cNvPr id="15" name="Text 10"/>
          <p:cNvSpPr/>
          <p:nvPr/>
        </p:nvSpPr>
        <p:spPr>
          <a:xfrm>
            <a:off x="8246533" y="3141979"/>
            <a:ext cx="296502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DM Sans" pitchFamily="34" charset="0"/>
                <a:ea typeface="DM Sans" pitchFamily="34" charset="-122"/>
                <a:cs typeface="DM Sans" pitchFamily="34" charset="-120"/>
              </a:rPr>
              <a:t>Staying informed</a:t>
            </a:r>
            <a:endParaRPr lang="en-US" sz="1800" dirty="0"/>
          </a:p>
        </p:txBody>
      </p:sp>
      <p:sp>
        <p:nvSpPr>
          <p:cNvPr id="16" name="Text 11"/>
          <p:cNvSpPr/>
          <p:nvPr/>
        </p:nvSpPr>
        <p:spPr>
          <a:xfrm>
            <a:off x="8246533" y="3517900"/>
            <a:ext cx="296502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5"/>
                </a:solidFill>
                <a:latin typeface="DM Sans" pitchFamily="34" charset="0"/>
                <a:ea typeface="DM Sans" pitchFamily="34" charset="-122"/>
                <a:cs typeface="DM Sans" pitchFamily="34" charset="-120"/>
              </a:rPr>
              <a:t>Email reminders, optional text messages, and daily and weekly summaries show what is ahead.</a:t>
            </a:r>
            <a:endParaRPr lang="en-US" sz="1400" dirty="0"/>
          </a:p>
        </p:txBody>
      </p:sp>
      <p:sp>
        <p:nvSpPr>
          <p:cNvPr id="17" name="Text 12"/>
          <p:cNvSpPr/>
          <p:nvPr/>
        </p:nvSpPr>
        <p:spPr>
          <a:xfrm>
            <a:off x="812800" y="6238242"/>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8"/>
                </a:solidFill>
                <a:latin typeface="DM Sans" pitchFamily="34" charset="0"/>
                <a:ea typeface="DM Sans" pitchFamily="34" charset="-122"/>
                <a:cs typeface="DM Sans" pitchFamily="34" charset="-120"/>
              </a:rPr>
              <a:t>Atlas</a:t>
            </a:r>
            <a:endParaRPr lang="en-US" sz="1200" dirty="0"/>
          </a:p>
        </p:txBody>
      </p:sp>
      <p:sp>
        <p:nvSpPr>
          <p:cNvPr id="18" name="Text 13"/>
          <p:cNvSpPr/>
          <p:nvPr/>
        </p:nvSpPr>
        <p:spPr>
          <a:xfrm>
            <a:off x="5492750" y="6238242"/>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8"/>
                </a:solidFill>
                <a:latin typeface="DM Sans" pitchFamily="34" charset="0"/>
                <a:ea typeface="DM Sans" pitchFamily="34" charset="-122"/>
                <a:cs typeface="DM Sans" pitchFamily="34" charset="-120"/>
              </a:rPr>
              <a:t>Value to users and what's next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0A"/>
                </a:solidFill>
                <a:latin typeface="DM Sans" pitchFamily="34" charset="0"/>
                <a:ea typeface="DM Sans" pitchFamily="34" charset="-122"/>
                <a:cs typeface="DM Sans" pitchFamily="34" charset="-120"/>
              </a:rPr>
              <a:t>WHAT'S NEXT</a:t>
            </a:r>
            <a:endParaRPr lang="en-US" sz="1200" dirty="0"/>
          </a:p>
        </p:txBody>
      </p:sp>
      <p:sp>
        <p:nvSpPr>
          <p:cNvPr id="3" name="Text 1"/>
          <p:cNvSpPr/>
          <p:nvPr>
            <p:ph type="title"/>
          </p:nvPr>
        </p:nvSpPr>
        <p:spPr>
          <a:xfrm>
            <a:off x="812800" y="10261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A"/>
                </a:solidFill>
                <a:latin typeface="DM Sans" pitchFamily="34" charset="0"/>
                <a:ea typeface="DM Sans" pitchFamily="34" charset="-122"/>
                <a:cs typeface="DM Sans" pitchFamily="34" charset="-120"/>
              </a:rPr>
              <a:t>Later phases</a:t>
            </a:r>
            <a:endParaRPr lang="en-US" sz="3200" dirty="0"/>
          </a:p>
        </p:txBody>
      </p:sp>
      <p:sp>
        <p:nvSpPr>
          <p:cNvPr id="4" name="Shape 2"/>
          <p:cNvSpPr/>
          <p:nvPr/>
        </p:nvSpPr>
        <p:spPr>
          <a:xfrm>
            <a:off x="812800" y="2435858"/>
            <a:ext cx="3302000" cy="2059940"/>
          </a:xfrm>
          <a:prstGeom prst="roundRect">
            <a:avLst>
              <a:gd name="adj" fmla="val 6165"/>
            </a:avLst>
          </a:prstGeom>
          <a:solidFill>
            <a:srgbClr val="16233A"/>
          </a:solidFill>
          <a:ln/>
        </p:spPr>
      </p:sp>
      <p:sp>
        <p:nvSpPr>
          <p:cNvPr id="5" name="Text 3"/>
          <p:cNvSpPr/>
          <p:nvPr/>
        </p:nvSpPr>
        <p:spPr>
          <a:xfrm>
            <a:off x="1066800" y="2689858"/>
            <a:ext cx="287782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DM Sans" pitchFamily="34" charset="0"/>
                <a:ea typeface="DM Sans" pitchFamily="34" charset="-122"/>
                <a:cs typeface="DM Sans" pitchFamily="34" charset="-120"/>
              </a:rPr>
              <a:t>NOW</a:t>
            </a:r>
            <a:endParaRPr lang="en-US" sz="1200" dirty="0"/>
          </a:p>
        </p:txBody>
      </p:sp>
      <p:sp>
        <p:nvSpPr>
          <p:cNvPr id="6" name="Text 4"/>
          <p:cNvSpPr/>
          <p:nvPr/>
        </p:nvSpPr>
        <p:spPr>
          <a:xfrm>
            <a:off x="1066800" y="3004821"/>
            <a:ext cx="287782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DM Sans" pitchFamily="34" charset="0"/>
                <a:ea typeface="DM Sans" pitchFamily="34" charset="-122"/>
                <a:cs typeface="DM Sans" pitchFamily="34" charset="-120"/>
              </a:rPr>
              <a:t>MVP</a:t>
            </a:r>
            <a:endParaRPr lang="en-US" sz="2200" dirty="0"/>
          </a:p>
        </p:txBody>
      </p:sp>
      <p:sp>
        <p:nvSpPr>
          <p:cNvPr id="7" name="Text 5"/>
          <p:cNvSpPr/>
          <p:nvPr/>
        </p:nvSpPr>
        <p:spPr>
          <a:xfrm>
            <a:off x="1066800" y="3441700"/>
            <a:ext cx="287782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CF5"/>
                </a:solidFill>
                <a:latin typeface="DM Sans" pitchFamily="34" charset="0"/>
                <a:ea typeface="DM Sans" pitchFamily="34" charset="-122"/>
                <a:cs typeface="DM Sans" pitchFamily="34" charset="-120"/>
              </a:rPr>
              <a:t>Unified calendar, at least two sources, and a basic AI assistant.</a:t>
            </a:r>
            <a:endParaRPr lang="en-US" sz="1500" dirty="0"/>
          </a:p>
        </p:txBody>
      </p:sp>
      <p:pic>
        <p:nvPicPr>
          <p:cNvPr id="8" name="Image 0" descr="arrow-right">    </p:cNvPr>
          <p:cNvPicPr>
            <a:picLocks noChangeAspect="1"/>
          </p:cNvPicPr>
          <p:nvPr/>
        </p:nvPicPr>
        <p:blipFill>
          <a:blip r:embed="rId1"/>
          <a:srcRect l="0" r="0" t="0" b="0"/>
          <a:stretch/>
        </p:blipFill>
        <p:spPr>
          <a:xfrm>
            <a:off x="4368800" y="3275329"/>
            <a:ext cx="635000" cy="381000"/>
          </a:xfrm>
          <a:prstGeom prst="rect">
            <a:avLst/>
          </a:prstGeom>
        </p:spPr>
      </p:pic>
      <p:sp>
        <p:nvSpPr>
          <p:cNvPr id="9" name="Text 6"/>
          <p:cNvSpPr/>
          <p:nvPr/>
        </p:nvSpPr>
        <p:spPr>
          <a:xfrm>
            <a:off x="5257800" y="1778000"/>
            <a:ext cx="630504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6472"/>
                </a:solidFill>
                <a:latin typeface="DM Sans" pitchFamily="34" charset="0"/>
                <a:ea typeface="DM Sans" pitchFamily="34" charset="-122"/>
                <a:cs typeface="DM Sans" pitchFamily="34" charset="-120"/>
              </a:rPr>
              <a:t>AFTER THE MVP</a:t>
            </a:r>
            <a:endParaRPr lang="en-US" sz="1200" dirty="0"/>
          </a:p>
        </p:txBody>
      </p:sp>
      <p:sp>
        <p:nvSpPr>
          <p:cNvPr id="10" name="Text 7"/>
          <p:cNvSpPr/>
          <p:nvPr/>
        </p:nvSpPr>
        <p:spPr>
          <a:xfrm>
            <a:off x="5260975" y="2096133"/>
            <a:ext cx="6115050" cy="524510"/>
          </a:xfrm>
          <a:prstGeom prst="roundRect">
            <a:avLst>
              <a:gd name="adj" fmla="val 13923"/>
            </a:avLst>
          </a:prstGeom>
          <a:solidFill>
            <a:srgbClr val="FBFAF6"/>
          </a:solidFill>
          <a:ln w="6350">
            <a:solidFill>
              <a:srgbClr val="E2DED3"/>
            </a:solidFill>
            <a:prstDash val="solid"/>
          </a:ln>
        </p:spPr>
        <p:txBody>
          <a:bodyPr wrap="square" lIns="159587" tIns="108787" rIns="0" bIns="83387" rtlCol="0" anchor="t">
            <a:normAutofit/>
          </a:bodyPr>
          <a:lstStyle/>
          <a:p>
            <a:pPr algn="l" indent="0" marL="0">
              <a:lnSpc>
                <a:spcPts val="2080"/>
              </a:lnSpc>
              <a:buNone/>
            </a:pPr>
            <a:r>
              <a:rPr lang="en-US" sz="1600" dirty="0">
                <a:solidFill>
                  <a:srgbClr val="16233A"/>
                </a:solidFill>
                <a:latin typeface="DM Sans" pitchFamily="34" charset="0"/>
                <a:ea typeface="DM Sans" pitchFamily="34" charset="-122"/>
                <a:cs typeface="DM Sans" pitchFamily="34" charset="-120"/>
              </a:rPr>
              <a:t>All four calendar sources</a:t>
            </a:r>
            <a:endParaRPr lang="en-US" sz="1600" dirty="0"/>
          </a:p>
        </p:txBody>
      </p:sp>
      <p:sp>
        <p:nvSpPr>
          <p:cNvPr id="11" name="Text 8"/>
          <p:cNvSpPr/>
          <p:nvPr/>
        </p:nvSpPr>
        <p:spPr>
          <a:xfrm>
            <a:off x="5260975" y="2728596"/>
            <a:ext cx="6115050" cy="524510"/>
          </a:xfrm>
          <a:prstGeom prst="roundRect">
            <a:avLst>
              <a:gd name="adj" fmla="val 13923"/>
            </a:avLst>
          </a:prstGeom>
          <a:solidFill>
            <a:srgbClr val="FBFAF6"/>
          </a:solidFill>
          <a:ln w="6350">
            <a:solidFill>
              <a:srgbClr val="E2DED3"/>
            </a:solidFill>
            <a:prstDash val="solid"/>
          </a:ln>
        </p:spPr>
        <p:txBody>
          <a:bodyPr wrap="square" lIns="159587" tIns="108787" rIns="0" bIns="83387" rtlCol="0" anchor="t">
            <a:normAutofit/>
          </a:bodyPr>
          <a:lstStyle/>
          <a:p>
            <a:pPr algn="l" indent="0" marL="0">
              <a:lnSpc>
                <a:spcPts val="2080"/>
              </a:lnSpc>
              <a:buNone/>
            </a:pPr>
            <a:r>
              <a:rPr lang="en-US" sz="1600" dirty="0">
                <a:solidFill>
                  <a:srgbClr val="16233A"/>
                </a:solidFill>
                <a:latin typeface="DM Sans" pitchFamily="34" charset="0"/>
                <a:ea typeface="DM Sans" pitchFamily="34" charset="-122"/>
                <a:cs typeface="DM Sans" pitchFamily="34" charset="-120"/>
              </a:rPr>
              <a:t>Smarter task breakdowns</a:t>
            </a:r>
            <a:endParaRPr lang="en-US" sz="1600" dirty="0"/>
          </a:p>
        </p:txBody>
      </p:sp>
      <p:sp>
        <p:nvSpPr>
          <p:cNvPr id="12" name="Text 9"/>
          <p:cNvSpPr/>
          <p:nvPr/>
        </p:nvSpPr>
        <p:spPr>
          <a:xfrm>
            <a:off x="5260975" y="3361054"/>
            <a:ext cx="6115050" cy="524510"/>
          </a:xfrm>
          <a:prstGeom prst="roundRect">
            <a:avLst>
              <a:gd name="adj" fmla="val 13923"/>
            </a:avLst>
          </a:prstGeom>
          <a:solidFill>
            <a:srgbClr val="FBFAF6"/>
          </a:solidFill>
          <a:ln w="6350">
            <a:solidFill>
              <a:srgbClr val="E2DED3"/>
            </a:solidFill>
            <a:prstDash val="solid"/>
          </a:ln>
        </p:spPr>
        <p:txBody>
          <a:bodyPr wrap="square" lIns="159587" tIns="108787" rIns="0" bIns="83387" rtlCol="0" anchor="t">
            <a:normAutofit/>
          </a:bodyPr>
          <a:lstStyle/>
          <a:p>
            <a:pPr algn="l" indent="0" marL="0">
              <a:lnSpc>
                <a:spcPts val="2080"/>
              </a:lnSpc>
              <a:buNone/>
            </a:pPr>
            <a:r>
              <a:rPr lang="en-US" sz="1600" dirty="0">
                <a:solidFill>
                  <a:srgbClr val="16233A"/>
                </a:solidFill>
                <a:latin typeface="DM Sans" pitchFamily="34" charset="0"/>
                <a:ea typeface="DM Sans" pitchFamily="34" charset="-122"/>
                <a:cs typeface="DM Sans" pitchFamily="34" charset="-120"/>
              </a:rPr>
              <a:t>Real-time syncing</a:t>
            </a:r>
            <a:endParaRPr lang="en-US" sz="1600" dirty="0"/>
          </a:p>
        </p:txBody>
      </p:sp>
      <p:sp>
        <p:nvSpPr>
          <p:cNvPr id="13" name="Text 10"/>
          <p:cNvSpPr/>
          <p:nvPr/>
        </p:nvSpPr>
        <p:spPr>
          <a:xfrm>
            <a:off x="5260975" y="3993517"/>
            <a:ext cx="6115050" cy="524510"/>
          </a:xfrm>
          <a:prstGeom prst="roundRect">
            <a:avLst>
              <a:gd name="adj" fmla="val 13923"/>
            </a:avLst>
          </a:prstGeom>
          <a:solidFill>
            <a:srgbClr val="FBFAF6"/>
          </a:solidFill>
          <a:ln w="6350">
            <a:solidFill>
              <a:srgbClr val="E2DED3"/>
            </a:solidFill>
            <a:prstDash val="solid"/>
          </a:ln>
        </p:spPr>
        <p:txBody>
          <a:bodyPr wrap="square" lIns="159587" tIns="108787" rIns="0" bIns="83387" rtlCol="0" anchor="t">
            <a:normAutofit/>
          </a:bodyPr>
          <a:lstStyle/>
          <a:p>
            <a:pPr algn="l" indent="0" marL="0">
              <a:lnSpc>
                <a:spcPts val="2080"/>
              </a:lnSpc>
              <a:buNone/>
            </a:pPr>
            <a:r>
              <a:rPr lang="en-US" sz="1600" dirty="0">
                <a:solidFill>
                  <a:srgbClr val="16233A"/>
                </a:solidFill>
                <a:latin typeface="DM Sans" pitchFamily="34" charset="0"/>
                <a:ea typeface="DM Sans" pitchFamily="34" charset="-122"/>
                <a:cs typeface="DM Sans" pitchFamily="34" charset="-120"/>
              </a:rPr>
              <a:t>Notifications</a:t>
            </a:r>
            <a:endParaRPr lang="en-US" sz="1600" dirty="0"/>
          </a:p>
        </p:txBody>
      </p:sp>
      <p:sp>
        <p:nvSpPr>
          <p:cNvPr id="14" name="Text 11"/>
          <p:cNvSpPr/>
          <p:nvPr/>
        </p:nvSpPr>
        <p:spPr>
          <a:xfrm>
            <a:off x="5260975" y="4625975"/>
            <a:ext cx="6115050" cy="524510"/>
          </a:xfrm>
          <a:prstGeom prst="roundRect">
            <a:avLst>
              <a:gd name="adj" fmla="val 13923"/>
            </a:avLst>
          </a:prstGeom>
          <a:solidFill>
            <a:srgbClr val="FBFAF6"/>
          </a:solidFill>
          <a:ln w="6350">
            <a:solidFill>
              <a:srgbClr val="E2DED3"/>
            </a:solidFill>
            <a:prstDash val="solid"/>
          </a:ln>
        </p:spPr>
        <p:txBody>
          <a:bodyPr wrap="square" lIns="159587" tIns="108787" rIns="0" bIns="83387" rtlCol="0" anchor="t">
            <a:normAutofit/>
          </a:bodyPr>
          <a:lstStyle/>
          <a:p>
            <a:pPr algn="l" indent="0" marL="0">
              <a:lnSpc>
                <a:spcPts val="2080"/>
              </a:lnSpc>
              <a:buNone/>
            </a:pPr>
            <a:r>
              <a:rPr lang="en-US" sz="1600" dirty="0">
                <a:solidFill>
                  <a:srgbClr val="16233A"/>
                </a:solidFill>
                <a:latin typeface="DM Sans" pitchFamily="34" charset="0"/>
                <a:ea typeface="DM Sans" pitchFamily="34" charset="-122"/>
                <a:cs typeface="DM Sans" pitchFamily="34" charset="-120"/>
              </a:rPr>
              <a:t>Automated daily and weekly schedule summaries</a:t>
            </a:r>
            <a:endParaRPr lang="en-US" sz="1600" dirty="0"/>
          </a:p>
        </p:txBody>
      </p:sp>
      <p:sp>
        <p:nvSpPr>
          <p:cNvPr id="15" name="Text 12"/>
          <p:cNvSpPr/>
          <p:nvPr/>
        </p:nvSpPr>
        <p:spPr>
          <a:xfrm>
            <a:off x="812800" y="6238242"/>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Atlas</a:t>
            </a:r>
            <a:endParaRPr lang="en-US" sz="1200" dirty="0"/>
          </a:p>
        </p:txBody>
      </p:sp>
      <p:sp>
        <p:nvSpPr>
          <p:cNvPr id="16" name="Text 13"/>
          <p:cNvSpPr/>
          <p:nvPr/>
        </p:nvSpPr>
        <p:spPr>
          <a:xfrm>
            <a:off x="5492750" y="6238242"/>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Value to users and what's next</a:t>
            </a:r>
            <a:endParaRPr lang="en-US" sz="1200" dirty="0"/>
          </a:p>
        </p:txBody>
      </p:sp>
    </p:spTree>
  </p:cSld>
  <p:clrMapOvr>
    <a:masterClrMapping/>
  </p:clrMapOvr>
</p:sld>
</file>

<file path=ppt/theme/theme1.xml><?xml version="1.0" encoding="utf-8"?>
<a:theme xmlns:a="http://schemas.openxmlformats.org/drawingml/2006/main" name="Atlas Project Presentation">
  <a:themeElements>
    <a:clrScheme name="Atlas Project Presentation">
      <a:dk1>
        <a:srgbClr val="16233A"/>
      </a:dk1>
      <a:lt1>
        <a:srgbClr val="F6F4EE"/>
      </a:lt1>
      <a:dk2>
        <a:srgbClr val="4E5767"/>
      </a:dk2>
      <a:lt2>
        <a:srgbClr val="E0DFDC"/>
      </a:lt2>
      <a:accent1>
        <a:srgbClr val="B8460A"/>
      </a:accent1>
      <a:accent2>
        <a:srgbClr val="F4A261"/>
      </a:accent2>
      <a:accent3>
        <a:srgbClr val="9FB0C8"/>
      </a:accent3>
      <a:accent4>
        <a:srgbClr val="2563EB"/>
      </a:accent4>
      <a:accent5>
        <a:srgbClr val="6D43C4"/>
      </a:accent5>
      <a:accent6>
        <a:srgbClr val="C42F42"/>
      </a:accent6>
      <a:hlink>
        <a:srgbClr val="0563C1"/>
      </a:hlink>
      <a:folHlink>
        <a:srgbClr val="954F72"/>
      </a:folHlink>
    </a:clrScheme>
    <a:fontScheme name="Atlas Project Presentatio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Atlas Project Presentation</dc:title>
  <dc:subject/>
  <dc:creator/>
  <cp:lastModifiedBy/>
  <cp:revision>1</cp:revision>
  <dcterms:created xsi:type="dcterms:W3CDTF">2026-10-08T14:22:16Z</dcterms:created>
  <dcterms:modified xsi:type="dcterms:W3CDTF">2026-10-08T14:22:16Z</dcterms:modified>
</cp:coreProperties>
</file>